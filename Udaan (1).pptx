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pen Sans" panose="020F050202020403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9731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82165"/>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Udaan</a:t>
            </a:r>
            <a:endParaRPr lang="en-US" sz="4450" dirty="0"/>
          </a:p>
        </p:txBody>
      </p:sp>
      <p:sp>
        <p:nvSpPr>
          <p:cNvPr id="4" name="Text 1"/>
          <p:cNvSpPr/>
          <p:nvPr/>
        </p:nvSpPr>
        <p:spPr>
          <a:xfrm>
            <a:off x="793790" y="3131106"/>
            <a:ext cx="7556421" cy="453509"/>
          </a:xfrm>
          <a:prstGeom prst="rect">
            <a:avLst/>
          </a:prstGeom>
          <a:noFill/>
          <a:ln/>
        </p:spPr>
        <p:txBody>
          <a:bodyPr wrap="none" lIns="0" tIns="0" rIns="0" bIns="0" rtlCol="0" anchor="t"/>
          <a:lstStyle/>
          <a:p>
            <a:pPr marL="0" indent="0" algn="l">
              <a:lnSpc>
                <a:spcPts val="3550"/>
              </a:lnSpc>
              <a:buNone/>
            </a:pPr>
            <a:r>
              <a:rPr lang="en-US" sz="2200" i="1" dirty="0">
                <a:solidFill>
                  <a:srgbClr val="443728"/>
                </a:solidFill>
                <a:latin typeface="Open Sans" pitchFamily="34" charset="0"/>
                <a:ea typeface="Open Sans" pitchFamily="34" charset="-122"/>
                <a:cs typeface="Open Sans" pitchFamily="34" charset="-120"/>
              </a:rPr>
              <a:t>Your flight to clarity</a:t>
            </a:r>
            <a:endParaRPr lang="en-US" sz="2200" dirty="0"/>
          </a:p>
        </p:txBody>
      </p:sp>
      <p:sp>
        <p:nvSpPr>
          <p:cNvPr id="5" name="Text 2"/>
          <p:cNvSpPr/>
          <p:nvPr/>
        </p:nvSpPr>
        <p:spPr>
          <a:xfrm>
            <a:off x="793790" y="3839766"/>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835E54"/>
                </a:solidFill>
                <a:latin typeface="Open Sans" pitchFamily="34" charset="0"/>
                <a:ea typeface="Open Sans" pitchFamily="34" charset="-122"/>
                <a:cs typeface="Open Sans" pitchFamily="34" charset="-120"/>
              </a:rPr>
              <a:t>Team: Hack Budhaa</a:t>
            </a:r>
            <a:endParaRPr lang="en-US" sz="1750" dirty="0"/>
          </a:p>
        </p:txBody>
      </p:sp>
      <p:sp>
        <p:nvSpPr>
          <p:cNvPr id="6" name="Text 3"/>
          <p:cNvSpPr/>
          <p:nvPr/>
        </p:nvSpPr>
        <p:spPr>
          <a:xfrm>
            <a:off x="793790" y="4457819"/>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Prewal Fredlin Fernandes </a:t>
            </a:r>
            <a:endParaRPr lang="en-US" sz="1750" dirty="0"/>
          </a:p>
        </p:txBody>
      </p:sp>
      <p:sp>
        <p:nvSpPr>
          <p:cNvPr id="7" name="Text 4"/>
          <p:cNvSpPr/>
          <p:nvPr/>
        </p:nvSpPr>
        <p:spPr>
          <a:xfrm>
            <a:off x="793790" y="4900017"/>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 Sneha S Shetty</a:t>
            </a:r>
            <a:endParaRPr lang="en-US" sz="1750" dirty="0"/>
          </a:p>
        </p:txBody>
      </p:sp>
      <p:sp>
        <p:nvSpPr>
          <p:cNvPr id="8" name="Text 5"/>
          <p:cNvSpPr/>
          <p:nvPr/>
        </p:nvSpPr>
        <p:spPr>
          <a:xfrm>
            <a:off x="793790" y="5342215"/>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 Sahana S Madival </a:t>
            </a:r>
            <a:endParaRPr lang="en-US" sz="1750" dirty="0"/>
          </a:p>
        </p:txBody>
      </p:sp>
      <p:sp>
        <p:nvSpPr>
          <p:cNvPr id="9" name="Text 6"/>
          <p:cNvSpPr/>
          <p:nvPr/>
        </p:nvSpPr>
        <p:spPr>
          <a:xfrm>
            <a:off x="793790" y="5784413"/>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  Amogha H Shetty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47976"/>
            <a:ext cx="7556421" cy="308372"/>
          </a:xfrm>
          <a:prstGeom prst="rect">
            <a:avLst/>
          </a:prstGeom>
          <a:noFill/>
          <a:ln/>
        </p:spPr>
        <p:txBody>
          <a:bodyPr wrap="none" lIns="0" tIns="0" rIns="0" bIns="0" rtlCol="0" anchor="t"/>
          <a:lstStyle/>
          <a:p>
            <a:pPr marL="0" indent="0" algn="l">
              <a:lnSpc>
                <a:spcPts val="2400"/>
              </a:lnSpc>
              <a:buNone/>
            </a:pPr>
            <a:r>
              <a:rPr lang="en-US" sz="1500" b="1" dirty="0">
                <a:solidFill>
                  <a:srgbClr val="835E54"/>
                </a:solidFill>
                <a:latin typeface="Open Sans" pitchFamily="34" charset="0"/>
                <a:ea typeface="Open Sans" pitchFamily="34" charset="-122"/>
                <a:cs typeface="Open Sans" pitchFamily="34" charset="-120"/>
              </a:rPr>
              <a:t>Problem Statement</a:t>
            </a:r>
            <a:endParaRPr lang="en-US" sz="1500" dirty="0"/>
          </a:p>
        </p:txBody>
      </p:sp>
      <p:sp>
        <p:nvSpPr>
          <p:cNvPr id="4" name="Text 1"/>
          <p:cNvSpPr/>
          <p:nvPr/>
        </p:nvSpPr>
        <p:spPr>
          <a:xfrm>
            <a:off x="793790" y="1449110"/>
            <a:ext cx="7556421" cy="1204913"/>
          </a:xfrm>
          <a:prstGeom prst="rect">
            <a:avLst/>
          </a:prstGeom>
          <a:noFill/>
          <a:ln/>
        </p:spPr>
        <p:txBody>
          <a:bodyPr wrap="square" lIns="0" tIns="0" rIns="0" bIns="0" rtlCol="0" anchor="t"/>
          <a:lstStyle/>
          <a:p>
            <a:pPr marL="0" indent="0" algn="l">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The Unmet Needs of Diverse Learners</a:t>
            </a:r>
            <a:endParaRPr lang="en-US" sz="3750" dirty="0"/>
          </a:p>
        </p:txBody>
      </p:sp>
      <p:sp>
        <p:nvSpPr>
          <p:cNvPr id="5" name="Text 2"/>
          <p:cNvSpPr/>
          <p:nvPr/>
        </p:nvSpPr>
        <p:spPr>
          <a:xfrm>
            <a:off x="793790" y="2943225"/>
            <a:ext cx="7556421" cy="1233487"/>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Traditional educational materials create significant barriers for students with learning disabilities, language differences, or limited access to resources. This challenge impacts millions of students globally, hindering their potential and perpetuating educational inequity.</a:t>
            </a:r>
            <a:endParaRPr lang="en-US" sz="1500" dirty="0"/>
          </a:p>
        </p:txBody>
      </p:sp>
      <p:sp>
        <p:nvSpPr>
          <p:cNvPr id="6" name="Shape 3"/>
          <p:cNvSpPr/>
          <p:nvPr/>
        </p:nvSpPr>
        <p:spPr>
          <a:xfrm>
            <a:off x="793790" y="4393525"/>
            <a:ext cx="3681770" cy="1742718"/>
          </a:xfrm>
          <a:prstGeom prst="roundRect">
            <a:avLst>
              <a:gd name="adj" fmla="val 4647"/>
            </a:avLst>
          </a:prstGeom>
          <a:solidFill>
            <a:srgbClr val="C9907C"/>
          </a:solidFill>
          <a:ln w="7620">
            <a:solidFill>
              <a:srgbClr val="AF7662"/>
            </a:solidFill>
            <a:prstDash val="solid"/>
          </a:ln>
        </p:spPr>
      </p:sp>
      <p:sp>
        <p:nvSpPr>
          <p:cNvPr id="7" name="Text 4"/>
          <p:cNvSpPr/>
          <p:nvPr/>
        </p:nvSpPr>
        <p:spPr>
          <a:xfrm>
            <a:off x="994172" y="4593908"/>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Crimson Pro Bold" pitchFamily="34" charset="0"/>
                <a:ea typeface="Crimson Pro Bold" pitchFamily="34" charset="-122"/>
                <a:cs typeface="Crimson Pro Bold" pitchFamily="34" charset="-120"/>
              </a:rPr>
              <a:t>Engagement Gap</a:t>
            </a:r>
            <a:endParaRPr lang="en-US" sz="1850" dirty="0"/>
          </a:p>
        </p:txBody>
      </p:sp>
      <p:sp>
        <p:nvSpPr>
          <p:cNvPr id="8" name="Text 5"/>
          <p:cNvSpPr/>
          <p:nvPr/>
        </p:nvSpPr>
        <p:spPr>
          <a:xfrm>
            <a:off x="994172" y="5010745"/>
            <a:ext cx="3281005" cy="925116"/>
          </a:xfrm>
          <a:prstGeom prst="rect">
            <a:avLst/>
          </a:prstGeom>
          <a:noFill/>
          <a:ln/>
        </p:spPr>
        <p:txBody>
          <a:bodyPr wrap="square" lIns="0" tIns="0" rIns="0" bIns="0" rtlCol="0" anchor="t"/>
          <a:lstStyle/>
          <a:p>
            <a:pPr marL="0" indent="0" algn="l">
              <a:lnSpc>
                <a:spcPts val="2400"/>
              </a:lnSpc>
              <a:buNone/>
            </a:pPr>
            <a:r>
              <a:rPr lang="en-US" sz="1500" dirty="0">
                <a:solidFill>
                  <a:srgbClr val="000000"/>
                </a:solidFill>
                <a:latin typeface="Open Sans" pitchFamily="34" charset="0"/>
                <a:ea typeface="Open Sans" pitchFamily="34" charset="-122"/>
                <a:cs typeface="Open Sans" pitchFamily="34" charset="-120"/>
              </a:rPr>
              <a:t>Students struggle to connect with static, unadaptable content that doesn't match their learning style.</a:t>
            </a:r>
            <a:endParaRPr lang="en-US" sz="1500" dirty="0"/>
          </a:p>
        </p:txBody>
      </p:sp>
      <p:sp>
        <p:nvSpPr>
          <p:cNvPr id="9" name="Shape 6"/>
          <p:cNvSpPr/>
          <p:nvPr/>
        </p:nvSpPr>
        <p:spPr>
          <a:xfrm>
            <a:off x="4668322" y="4393525"/>
            <a:ext cx="3681889" cy="1742718"/>
          </a:xfrm>
          <a:prstGeom prst="roundRect">
            <a:avLst>
              <a:gd name="adj" fmla="val 4647"/>
            </a:avLst>
          </a:prstGeom>
          <a:solidFill>
            <a:srgbClr val="B3BDB5"/>
          </a:solidFill>
          <a:ln w="7620">
            <a:solidFill>
              <a:srgbClr val="99A39B"/>
            </a:solidFill>
            <a:prstDash val="solid"/>
          </a:ln>
        </p:spPr>
      </p:sp>
      <p:sp>
        <p:nvSpPr>
          <p:cNvPr id="10" name="Text 7"/>
          <p:cNvSpPr/>
          <p:nvPr/>
        </p:nvSpPr>
        <p:spPr>
          <a:xfrm>
            <a:off x="4868704" y="4593908"/>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Crimson Pro Bold" pitchFamily="34" charset="0"/>
                <a:ea typeface="Crimson Pro Bold" pitchFamily="34" charset="-122"/>
                <a:cs typeface="Crimson Pro Bold" pitchFamily="34" charset="-120"/>
              </a:rPr>
              <a:t>Accessibility Barriers</a:t>
            </a:r>
            <a:endParaRPr lang="en-US" sz="1850" dirty="0"/>
          </a:p>
        </p:txBody>
      </p:sp>
      <p:sp>
        <p:nvSpPr>
          <p:cNvPr id="11" name="Text 8"/>
          <p:cNvSpPr/>
          <p:nvPr/>
        </p:nvSpPr>
        <p:spPr>
          <a:xfrm>
            <a:off x="4868704" y="5010745"/>
            <a:ext cx="3281124" cy="925116"/>
          </a:xfrm>
          <a:prstGeom prst="rect">
            <a:avLst/>
          </a:prstGeom>
          <a:noFill/>
          <a:ln/>
        </p:spPr>
        <p:txBody>
          <a:bodyPr wrap="square" lIns="0" tIns="0" rIns="0" bIns="0" rtlCol="0" anchor="t"/>
          <a:lstStyle/>
          <a:p>
            <a:pPr marL="0" indent="0" algn="l">
              <a:lnSpc>
                <a:spcPts val="2400"/>
              </a:lnSpc>
              <a:buNone/>
            </a:pPr>
            <a:r>
              <a:rPr lang="en-US" sz="1500" dirty="0">
                <a:solidFill>
                  <a:srgbClr val="000000"/>
                </a:solidFill>
                <a:latin typeface="Open Sans" pitchFamily="34" charset="0"/>
                <a:ea typeface="Open Sans" pitchFamily="34" charset="-122"/>
                <a:cs typeface="Open Sans" pitchFamily="34" charset="-120"/>
              </a:rPr>
              <a:t>PDFs and textbooks are often inaccessible to those with dyslexia or visual processing challenges.</a:t>
            </a:r>
            <a:endParaRPr lang="en-US" sz="1500" dirty="0"/>
          </a:p>
        </p:txBody>
      </p:sp>
      <p:sp>
        <p:nvSpPr>
          <p:cNvPr id="12" name="Shape 9"/>
          <p:cNvSpPr/>
          <p:nvPr/>
        </p:nvSpPr>
        <p:spPr>
          <a:xfrm>
            <a:off x="793790" y="6329005"/>
            <a:ext cx="7556421" cy="1125974"/>
          </a:xfrm>
          <a:prstGeom prst="roundRect">
            <a:avLst>
              <a:gd name="adj" fmla="val 7192"/>
            </a:avLst>
          </a:prstGeom>
          <a:solidFill>
            <a:srgbClr val="835E54"/>
          </a:solidFill>
          <a:ln w="7620">
            <a:solidFill>
              <a:srgbClr val="9C776D"/>
            </a:solidFill>
            <a:prstDash val="solid"/>
          </a:ln>
        </p:spPr>
      </p:sp>
      <p:sp>
        <p:nvSpPr>
          <p:cNvPr id="13" name="Text 10"/>
          <p:cNvSpPr/>
          <p:nvPr/>
        </p:nvSpPr>
        <p:spPr>
          <a:xfrm>
            <a:off x="994172" y="6529387"/>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FFFFFF"/>
                </a:solidFill>
                <a:latin typeface="Crimson Pro Bold" pitchFamily="34" charset="0"/>
                <a:ea typeface="Crimson Pro Bold" pitchFamily="34" charset="-122"/>
                <a:cs typeface="Crimson Pro Bold" pitchFamily="34" charset="-120"/>
              </a:rPr>
              <a:t>Traditional Limitations</a:t>
            </a:r>
            <a:endParaRPr lang="en-US" sz="1850" dirty="0"/>
          </a:p>
        </p:txBody>
      </p:sp>
      <p:sp>
        <p:nvSpPr>
          <p:cNvPr id="14" name="Text 11"/>
          <p:cNvSpPr/>
          <p:nvPr/>
        </p:nvSpPr>
        <p:spPr>
          <a:xfrm>
            <a:off x="994172" y="6946225"/>
            <a:ext cx="7155656" cy="308372"/>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Open Sans" pitchFamily="34" charset="0"/>
                <a:ea typeface="Open Sans" pitchFamily="34" charset="-122"/>
                <a:cs typeface="Open Sans" pitchFamily="34" charset="-120"/>
              </a:rPr>
              <a:t>Text-heavy, inaccessible, often English-only materials exclude diverse learners.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95851"/>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835E54"/>
                </a:solidFill>
                <a:latin typeface="Open Sans" pitchFamily="34" charset="0"/>
                <a:ea typeface="Open Sans" pitchFamily="34" charset="-122"/>
                <a:cs typeface="Open Sans" pitchFamily="34" charset="-120"/>
              </a:rPr>
              <a:t>Our Solution</a:t>
            </a:r>
            <a:endParaRPr lang="en-US" sz="1750" dirty="0"/>
          </a:p>
        </p:txBody>
      </p:sp>
      <p:sp>
        <p:nvSpPr>
          <p:cNvPr id="3" name="Text 1"/>
          <p:cNvSpPr/>
          <p:nvPr/>
        </p:nvSpPr>
        <p:spPr>
          <a:xfrm>
            <a:off x="793790" y="1685568"/>
            <a:ext cx="8107680"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Personalized, Inclusive Education</a:t>
            </a:r>
            <a:endParaRPr lang="en-US" sz="4450" dirty="0"/>
          </a:p>
        </p:txBody>
      </p:sp>
      <p:sp>
        <p:nvSpPr>
          <p:cNvPr id="4" name="Text 2"/>
          <p:cNvSpPr/>
          <p:nvPr/>
        </p:nvSpPr>
        <p:spPr>
          <a:xfrm>
            <a:off x="793790" y="273450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Our AI-powered portal transforms standard PDFs into dynamic, accessible learning experiences for every student.</a:t>
            </a:r>
            <a:endParaRPr lang="en-US" sz="1750" dirty="0"/>
          </a:p>
        </p:txBody>
      </p:sp>
      <p:sp>
        <p:nvSpPr>
          <p:cNvPr id="5" name="Text 3"/>
          <p:cNvSpPr/>
          <p:nvPr/>
        </p:nvSpPr>
        <p:spPr>
          <a:xfrm>
            <a:off x="793790" y="33525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rimson Pro Light" pitchFamily="34" charset="0"/>
                <a:ea typeface="Crimson Pro Light" pitchFamily="34" charset="-122"/>
                <a:cs typeface="Crimson Pro Light" pitchFamily="34" charset="-120"/>
              </a:rPr>
              <a:t>01</a:t>
            </a:r>
            <a:endParaRPr lang="en-US" sz="1750" dirty="0"/>
          </a:p>
        </p:txBody>
      </p:sp>
      <p:sp>
        <p:nvSpPr>
          <p:cNvPr id="6" name="Shape 4"/>
          <p:cNvSpPr/>
          <p:nvPr/>
        </p:nvSpPr>
        <p:spPr>
          <a:xfrm>
            <a:off x="793790" y="3707606"/>
            <a:ext cx="4196358" cy="30480"/>
          </a:xfrm>
          <a:prstGeom prst="rect">
            <a:avLst/>
          </a:prstGeom>
          <a:solidFill>
            <a:srgbClr val="835E54"/>
          </a:solidFill>
          <a:ln/>
        </p:spPr>
      </p:sp>
      <p:sp>
        <p:nvSpPr>
          <p:cNvPr id="7" name="Text 5"/>
          <p:cNvSpPr/>
          <p:nvPr/>
        </p:nvSpPr>
        <p:spPr>
          <a:xfrm>
            <a:off x="793790" y="38819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Enhanced Content</a:t>
            </a:r>
            <a:endParaRPr lang="en-US" sz="2200" dirty="0"/>
          </a:p>
        </p:txBody>
      </p:sp>
      <p:sp>
        <p:nvSpPr>
          <p:cNvPr id="8" name="Text 6"/>
          <p:cNvSpPr/>
          <p:nvPr/>
        </p:nvSpPr>
        <p:spPr>
          <a:xfrm>
            <a:off x="793790" y="4372332"/>
            <a:ext cx="4196358" cy="1814513"/>
          </a:xfrm>
          <a:prstGeom prst="rect">
            <a:avLst/>
          </a:prstGeom>
          <a:noFill/>
          <a:ln/>
        </p:spPr>
        <p:txBody>
          <a:bodyPr wrap="square" lIns="0" tIns="0" rIns="0" bIns="0" rtlCol="0" anchor="t"/>
          <a:lstStyle/>
          <a:p>
            <a:pPr marL="0" indent="0" algn="l">
              <a:lnSpc>
                <a:spcPts val="2850"/>
              </a:lnSpc>
              <a:buNone/>
            </a:pPr>
            <a:r>
              <a:rPr lang="en-US" sz="1750" b="1" dirty="0">
                <a:solidFill>
                  <a:srgbClr val="443728"/>
                </a:solidFill>
                <a:latin typeface="Open Sans" pitchFamily="34" charset="0"/>
                <a:ea typeface="Open Sans" pitchFamily="34" charset="-122"/>
                <a:cs typeface="Open Sans" pitchFamily="34" charset="-120"/>
              </a:rPr>
              <a:t>AI-powered content transformation:</a:t>
            </a:r>
            <a:r>
              <a:rPr lang="en-US" sz="1750" dirty="0">
                <a:solidFill>
                  <a:srgbClr val="443728"/>
                </a:solidFill>
                <a:latin typeface="Open Sans" pitchFamily="34" charset="0"/>
                <a:ea typeface="Open Sans" pitchFamily="34" charset="-122"/>
                <a:cs typeface="Open Sans" pitchFamily="34" charset="-120"/>
              </a:rPr>
              <a:t> Converts PDFs and textbooks into audio, simplified summaries, and multilingual translations tailored to individual needs.</a:t>
            </a:r>
            <a:endParaRPr lang="en-US" sz="1750" dirty="0"/>
          </a:p>
        </p:txBody>
      </p:sp>
      <p:sp>
        <p:nvSpPr>
          <p:cNvPr id="9" name="Text 7"/>
          <p:cNvSpPr/>
          <p:nvPr/>
        </p:nvSpPr>
        <p:spPr>
          <a:xfrm>
            <a:off x="5216962" y="33525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rimson Pro Light" pitchFamily="34" charset="0"/>
                <a:ea typeface="Crimson Pro Light" pitchFamily="34" charset="-122"/>
                <a:cs typeface="Crimson Pro Light" pitchFamily="34" charset="-120"/>
              </a:rPr>
              <a:t>02</a:t>
            </a:r>
            <a:endParaRPr lang="en-US" sz="1750" dirty="0"/>
          </a:p>
        </p:txBody>
      </p:sp>
      <p:sp>
        <p:nvSpPr>
          <p:cNvPr id="10" name="Shape 8"/>
          <p:cNvSpPr/>
          <p:nvPr/>
        </p:nvSpPr>
        <p:spPr>
          <a:xfrm>
            <a:off x="5216962" y="3707606"/>
            <a:ext cx="4196358" cy="30480"/>
          </a:xfrm>
          <a:prstGeom prst="rect">
            <a:avLst/>
          </a:prstGeom>
          <a:solidFill>
            <a:srgbClr val="835E54"/>
          </a:solidFill>
          <a:ln/>
        </p:spPr>
      </p:sp>
      <p:sp>
        <p:nvSpPr>
          <p:cNvPr id="11" name="Text 9"/>
          <p:cNvSpPr/>
          <p:nvPr/>
        </p:nvSpPr>
        <p:spPr>
          <a:xfrm>
            <a:off x="5216962" y="38819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Interactive Learning</a:t>
            </a:r>
            <a:endParaRPr lang="en-US" sz="2200" dirty="0"/>
          </a:p>
        </p:txBody>
      </p:sp>
      <p:sp>
        <p:nvSpPr>
          <p:cNvPr id="12" name="Text 10"/>
          <p:cNvSpPr/>
          <p:nvPr/>
        </p:nvSpPr>
        <p:spPr>
          <a:xfrm>
            <a:off x="5216962" y="4372332"/>
            <a:ext cx="4196358" cy="1814513"/>
          </a:xfrm>
          <a:prstGeom prst="rect">
            <a:avLst/>
          </a:prstGeom>
          <a:noFill/>
          <a:ln/>
        </p:spPr>
        <p:txBody>
          <a:bodyPr wrap="square" lIns="0" tIns="0" rIns="0" bIns="0" rtlCol="0" anchor="t"/>
          <a:lstStyle/>
          <a:p>
            <a:pPr marL="0" indent="0" algn="l">
              <a:lnSpc>
                <a:spcPts val="2850"/>
              </a:lnSpc>
              <a:buNone/>
            </a:pPr>
            <a:r>
              <a:rPr lang="en-US" sz="1750" b="1" dirty="0">
                <a:solidFill>
                  <a:srgbClr val="443728"/>
                </a:solidFill>
                <a:latin typeface="Open Sans" pitchFamily="34" charset="0"/>
                <a:ea typeface="Open Sans" pitchFamily="34" charset="-122"/>
                <a:cs typeface="Open Sans" pitchFamily="34" charset="-120"/>
              </a:rPr>
              <a:t>Dyslexia-friendly features:</a:t>
            </a:r>
            <a:r>
              <a:rPr lang="en-US" sz="1750" dirty="0">
                <a:solidFill>
                  <a:srgbClr val="443728"/>
                </a:solidFill>
                <a:latin typeface="Open Sans" pitchFamily="34" charset="0"/>
                <a:ea typeface="Open Sans" pitchFamily="34" charset="-122"/>
                <a:cs typeface="Open Sans" pitchFamily="34" charset="-120"/>
              </a:rPr>
              <a:t> Specialized fonts, customizable overlays, and synchronized read-along highlighting. Plus interactive flashcards and quizzes for engagement.</a:t>
            </a:r>
            <a:endParaRPr lang="en-US" sz="1750" dirty="0"/>
          </a:p>
        </p:txBody>
      </p:sp>
      <p:sp>
        <p:nvSpPr>
          <p:cNvPr id="13" name="Text 11"/>
          <p:cNvSpPr/>
          <p:nvPr/>
        </p:nvSpPr>
        <p:spPr>
          <a:xfrm>
            <a:off x="9640133" y="33525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rimson Pro Light" pitchFamily="34" charset="0"/>
                <a:ea typeface="Crimson Pro Light" pitchFamily="34" charset="-122"/>
                <a:cs typeface="Crimson Pro Light" pitchFamily="34" charset="-120"/>
              </a:rPr>
              <a:t>03</a:t>
            </a:r>
            <a:endParaRPr lang="en-US" sz="1750" dirty="0"/>
          </a:p>
        </p:txBody>
      </p:sp>
      <p:sp>
        <p:nvSpPr>
          <p:cNvPr id="14" name="Shape 12"/>
          <p:cNvSpPr/>
          <p:nvPr/>
        </p:nvSpPr>
        <p:spPr>
          <a:xfrm>
            <a:off x="9640133" y="3707606"/>
            <a:ext cx="4196358" cy="30480"/>
          </a:xfrm>
          <a:prstGeom prst="rect">
            <a:avLst/>
          </a:prstGeom>
          <a:solidFill>
            <a:srgbClr val="835E54"/>
          </a:solidFill>
          <a:ln/>
        </p:spPr>
      </p:sp>
      <p:sp>
        <p:nvSpPr>
          <p:cNvPr id="15" name="Text 13"/>
          <p:cNvSpPr/>
          <p:nvPr/>
        </p:nvSpPr>
        <p:spPr>
          <a:xfrm>
            <a:off x="9640133" y="3881914"/>
            <a:ext cx="3521154"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Comprehensive Management</a:t>
            </a:r>
            <a:endParaRPr lang="en-US" sz="2200" dirty="0"/>
          </a:p>
        </p:txBody>
      </p:sp>
      <p:sp>
        <p:nvSpPr>
          <p:cNvPr id="16" name="Text 14"/>
          <p:cNvSpPr/>
          <p:nvPr/>
        </p:nvSpPr>
        <p:spPr>
          <a:xfrm>
            <a:off x="9640133" y="4372332"/>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Dashboards for educators and administrators to manage content, customize materials, and track student progress effectively.</a:t>
            </a:r>
            <a:endParaRPr lang="en-US" sz="1750" dirty="0"/>
          </a:p>
        </p:txBody>
      </p:sp>
      <p:sp>
        <p:nvSpPr>
          <p:cNvPr id="17" name="Text 15"/>
          <p:cNvSpPr/>
          <p:nvPr/>
        </p:nvSpPr>
        <p:spPr>
          <a:xfrm>
            <a:off x="793790" y="661201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We bridge the gap between traditional content and diverse learning needs, empowering every student to succeed regardless of their learning style or background.</a:t>
            </a:r>
            <a:endParaRPr lang="en-US" sz="1750" dirty="0"/>
          </a:p>
        </p:txBody>
      </p:sp>
      <p:sp>
        <p:nvSpPr>
          <p:cNvPr id="18" name="TextBox 17">
            <a:extLst>
              <a:ext uri="{FF2B5EF4-FFF2-40B4-BE49-F238E27FC236}">
                <a16:creationId xmlns:a16="http://schemas.microsoft.com/office/drawing/2014/main" id="{75DDFED8-0648-B521-2062-A898AD9AC389}"/>
              </a:ext>
            </a:extLst>
          </p:cNvPr>
          <p:cNvSpPr txBox="1"/>
          <p:nvPr/>
        </p:nvSpPr>
        <p:spPr>
          <a:xfrm>
            <a:off x="12446598" y="7584141"/>
            <a:ext cx="2183802" cy="645459"/>
          </a:xfrm>
          <a:prstGeom prst="rect">
            <a:avLst/>
          </a:prstGeom>
          <a:solidFill>
            <a:srgbClr val="FFFCFA"/>
          </a:solidFill>
        </p:spPr>
        <p:txBody>
          <a:bodyPr wrap="square" rtlCol="0">
            <a:spAutoFit/>
          </a:bodyPr>
          <a:lstStyle/>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1043" y="899279"/>
            <a:ext cx="7701915" cy="214312"/>
          </a:xfrm>
          <a:prstGeom prst="rect">
            <a:avLst/>
          </a:prstGeom>
          <a:noFill/>
          <a:ln/>
        </p:spPr>
        <p:txBody>
          <a:bodyPr wrap="none" lIns="0" tIns="0" rIns="0" bIns="0" rtlCol="0" anchor="t"/>
          <a:lstStyle/>
          <a:p>
            <a:pPr marL="0" indent="0" algn="l">
              <a:lnSpc>
                <a:spcPts val="1650"/>
              </a:lnSpc>
              <a:buNone/>
            </a:pPr>
            <a:r>
              <a:rPr lang="en-US" sz="1050" b="1" dirty="0">
                <a:solidFill>
                  <a:srgbClr val="835E54"/>
                </a:solidFill>
                <a:latin typeface="Open Sans" pitchFamily="34" charset="0"/>
                <a:ea typeface="Open Sans" pitchFamily="34" charset="-122"/>
                <a:cs typeface="Open Sans" pitchFamily="34" charset="-120"/>
              </a:rPr>
              <a:t>Key Objectives &amp; Goals</a:t>
            </a:r>
            <a:endParaRPr lang="en-US" sz="1050" dirty="0"/>
          </a:p>
        </p:txBody>
      </p:sp>
      <p:sp>
        <p:nvSpPr>
          <p:cNvPr id="4" name="Text 1"/>
          <p:cNvSpPr/>
          <p:nvPr/>
        </p:nvSpPr>
        <p:spPr>
          <a:xfrm>
            <a:off x="721043" y="1247418"/>
            <a:ext cx="5763220" cy="418505"/>
          </a:xfrm>
          <a:prstGeom prst="rect">
            <a:avLst/>
          </a:prstGeom>
          <a:noFill/>
          <a:ln/>
        </p:spPr>
        <p:txBody>
          <a:bodyPr wrap="none" lIns="0" tIns="0" rIns="0" bIns="0" rtlCol="0" anchor="t"/>
          <a:lstStyle/>
          <a:p>
            <a:pPr marL="0" indent="0" algn="l">
              <a:lnSpc>
                <a:spcPts val="3250"/>
              </a:lnSpc>
              <a:buNone/>
            </a:pPr>
            <a:r>
              <a:rPr lang="en-US" sz="2600" b="1" dirty="0">
                <a:solidFill>
                  <a:srgbClr val="443728"/>
                </a:solidFill>
                <a:latin typeface="Crimson Pro Bold" pitchFamily="34" charset="0"/>
                <a:ea typeface="Crimson Pro Bold" pitchFamily="34" charset="-122"/>
                <a:cs typeface="Crimson Pro Bold" pitchFamily="34" charset="-120"/>
              </a:rPr>
              <a:t>Empowering Learners, Expanding Reach</a:t>
            </a:r>
            <a:endParaRPr lang="en-US" sz="2600" dirty="0"/>
          </a:p>
        </p:txBody>
      </p:sp>
      <p:sp>
        <p:nvSpPr>
          <p:cNvPr id="5" name="Shape 2"/>
          <p:cNvSpPr/>
          <p:nvPr/>
        </p:nvSpPr>
        <p:spPr>
          <a:xfrm>
            <a:off x="721043" y="2067639"/>
            <a:ext cx="7701915" cy="1201936"/>
          </a:xfrm>
          <a:prstGeom prst="roundRect">
            <a:avLst>
              <a:gd name="adj" fmla="val 6086"/>
            </a:avLst>
          </a:prstGeom>
          <a:solidFill>
            <a:srgbClr val="FFFCFA"/>
          </a:solidFill>
          <a:ln/>
        </p:spPr>
      </p:sp>
      <p:sp>
        <p:nvSpPr>
          <p:cNvPr id="6" name="Shape 3"/>
          <p:cNvSpPr/>
          <p:nvPr/>
        </p:nvSpPr>
        <p:spPr>
          <a:xfrm>
            <a:off x="721043" y="2052399"/>
            <a:ext cx="7701915" cy="60960"/>
          </a:xfrm>
          <a:prstGeom prst="roundRect">
            <a:avLst>
              <a:gd name="adj" fmla="val 92269"/>
            </a:avLst>
          </a:prstGeom>
          <a:solidFill>
            <a:srgbClr val="835E54"/>
          </a:solidFill>
          <a:ln/>
        </p:spPr>
      </p:sp>
      <p:sp>
        <p:nvSpPr>
          <p:cNvPr id="7" name="Shape 4"/>
          <p:cNvSpPr/>
          <p:nvPr/>
        </p:nvSpPr>
        <p:spPr>
          <a:xfrm>
            <a:off x="4371142" y="1866781"/>
            <a:ext cx="401717" cy="401717"/>
          </a:xfrm>
          <a:prstGeom prst="roundRect">
            <a:avLst>
              <a:gd name="adj" fmla="val 227623"/>
            </a:avLst>
          </a:prstGeom>
          <a:solidFill>
            <a:srgbClr val="835E54"/>
          </a:solidFill>
          <a:ln/>
        </p:spPr>
      </p:sp>
      <p:sp>
        <p:nvSpPr>
          <p:cNvPr id="8" name="Text 5"/>
          <p:cNvSpPr/>
          <p:nvPr/>
        </p:nvSpPr>
        <p:spPr>
          <a:xfrm>
            <a:off x="4491633" y="1967151"/>
            <a:ext cx="160615" cy="200858"/>
          </a:xfrm>
          <a:prstGeom prst="rect">
            <a:avLst/>
          </a:prstGeom>
          <a:noFill/>
          <a:ln/>
        </p:spPr>
        <p:txBody>
          <a:bodyPr wrap="none" lIns="0" tIns="0" rIns="0" bIns="0" rtlCol="0" anchor="t"/>
          <a:lstStyle/>
          <a:p>
            <a:pPr marL="0" indent="0" algn="l">
              <a:lnSpc>
                <a:spcPts val="2000"/>
              </a:lnSpc>
              <a:buNone/>
            </a:pPr>
            <a:r>
              <a:rPr lang="en-US" sz="1250" b="1" dirty="0">
                <a:solidFill>
                  <a:srgbClr val="FFFFFF"/>
                </a:solidFill>
                <a:latin typeface="Crimson Pro Bold" pitchFamily="34" charset="0"/>
                <a:ea typeface="Crimson Pro Bold" pitchFamily="34" charset="-122"/>
                <a:cs typeface="Crimson Pro Bold" pitchFamily="34" charset="-120"/>
              </a:rPr>
              <a:t>1</a:t>
            </a:r>
            <a:endParaRPr lang="en-US" sz="1250" dirty="0"/>
          </a:p>
        </p:txBody>
      </p:sp>
      <p:sp>
        <p:nvSpPr>
          <p:cNvPr id="9" name="Text 6"/>
          <p:cNvSpPr/>
          <p:nvPr/>
        </p:nvSpPr>
        <p:spPr>
          <a:xfrm>
            <a:off x="870109" y="2402443"/>
            <a:ext cx="1674019" cy="209193"/>
          </a:xfrm>
          <a:prstGeom prst="rect">
            <a:avLst/>
          </a:prstGeom>
          <a:noFill/>
          <a:ln/>
        </p:spPr>
        <p:txBody>
          <a:bodyPr wrap="none" lIns="0" tIns="0" rIns="0" bIns="0" rtlCol="0" anchor="t"/>
          <a:lstStyle/>
          <a:p>
            <a:pPr marL="0" indent="0" algn="l">
              <a:lnSpc>
                <a:spcPts val="1600"/>
              </a:lnSpc>
              <a:buNone/>
            </a:pPr>
            <a:r>
              <a:rPr lang="en-US" sz="1300" b="1" dirty="0">
                <a:solidFill>
                  <a:srgbClr val="443728"/>
                </a:solidFill>
                <a:latin typeface="Crimson Pro Bold" pitchFamily="34" charset="0"/>
                <a:ea typeface="Crimson Pro Bold" pitchFamily="34" charset="-122"/>
                <a:cs typeface="Crimson Pro Bold" pitchFamily="34" charset="-120"/>
              </a:rPr>
              <a:t>Increase Accessibility</a:t>
            </a:r>
            <a:endParaRPr lang="en-US" sz="1300" dirty="0"/>
          </a:p>
        </p:txBody>
      </p:sp>
      <p:sp>
        <p:nvSpPr>
          <p:cNvPr id="10" name="Text 7"/>
          <p:cNvSpPr/>
          <p:nvPr/>
        </p:nvSpPr>
        <p:spPr>
          <a:xfrm>
            <a:off x="870109" y="2691884"/>
            <a:ext cx="7403783" cy="428625"/>
          </a:xfrm>
          <a:prstGeom prst="rect">
            <a:avLst/>
          </a:prstGeom>
          <a:noFill/>
          <a:ln/>
        </p:spPr>
        <p:txBody>
          <a:bodyPr wrap="square" lIns="0" tIns="0" rIns="0" bIns="0" rtlCol="0" anchor="t"/>
          <a:lstStyle/>
          <a:p>
            <a:pPr marL="0" indent="0" algn="l">
              <a:lnSpc>
                <a:spcPts val="1650"/>
              </a:lnSpc>
              <a:buNone/>
            </a:pPr>
            <a:r>
              <a:rPr lang="en-US" sz="1050" dirty="0">
                <a:solidFill>
                  <a:srgbClr val="443728"/>
                </a:solidFill>
                <a:latin typeface="Open Sans" pitchFamily="34" charset="0"/>
                <a:ea typeface="Open Sans" pitchFamily="34" charset="-122"/>
                <a:cs typeface="Open Sans" pitchFamily="34" charset="-120"/>
              </a:rPr>
              <a:t>Make digital learning materials accessible to students with diverse needs, including dyslexia, ADHD, and visual processing differences.</a:t>
            </a:r>
            <a:endParaRPr lang="en-US" sz="1050" dirty="0"/>
          </a:p>
        </p:txBody>
      </p:sp>
      <p:sp>
        <p:nvSpPr>
          <p:cNvPr id="11" name="Shape 8"/>
          <p:cNvSpPr/>
          <p:nvPr/>
        </p:nvSpPr>
        <p:spPr>
          <a:xfrm>
            <a:off x="721043" y="3604260"/>
            <a:ext cx="7701915" cy="987623"/>
          </a:xfrm>
          <a:prstGeom prst="roundRect">
            <a:avLst>
              <a:gd name="adj" fmla="val 7407"/>
            </a:avLst>
          </a:prstGeom>
          <a:solidFill>
            <a:srgbClr val="FFFCFA"/>
          </a:solidFill>
          <a:ln/>
        </p:spPr>
      </p:sp>
      <p:sp>
        <p:nvSpPr>
          <p:cNvPr id="12" name="Shape 9"/>
          <p:cNvSpPr/>
          <p:nvPr/>
        </p:nvSpPr>
        <p:spPr>
          <a:xfrm>
            <a:off x="721043" y="3589020"/>
            <a:ext cx="7701915" cy="60960"/>
          </a:xfrm>
          <a:prstGeom prst="roundRect">
            <a:avLst>
              <a:gd name="adj" fmla="val 92269"/>
            </a:avLst>
          </a:prstGeom>
          <a:solidFill>
            <a:srgbClr val="835E54"/>
          </a:solidFill>
          <a:ln/>
        </p:spPr>
      </p:sp>
      <p:sp>
        <p:nvSpPr>
          <p:cNvPr id="13" name="Shape 10"/>
          <p:cNvSpPr/>
          <p:nvPr/>
        </p:nvSpPr>
        <p:spPr>
          <a:xfrm>
            <a:off x="4371142" y="3403402"/>
            <a:ext cx="401717" cy="401717"/>
          </a:xfrm>
          <a:prstGeom prst="roundRect">
            <a:avLst>
              <a:gd name="adj" fmla="val 227623"/>
            </a:avLst>
          </a:prstGeom>
          <a:solidFill>
            <a:srgbClr val="835E54"/>
          </a:solidFill>
          <a:ln/>
        </p:spPr>
      </p:sp>
      <p:sp>
        <p:nvSpPr>
          <p:cNvPr id="14" name="Text 11"/>
          <p:cNvSpPr/>
          <p:nvPr/>
        </p:nvSpPr>
        <p:spPr>
          <a:xfrm>
            <a:off x="4491633" y="3503771"/>
            <a:ext cx="160615" cy="200858"/>
          </a:xfrm>
          <a:prstGeom prst="rect">
            <a:avLst/>
          </a:prstGeom>
          <a:noFill/>
          <a:ln/>
        </p:spPr>
        <p:txBody>
          <a:bodyPr wrap="none" lIns="0" tIns="0" rIns="0" bIns="0" rtlCol="0" anchor="t"/>
          <a:lstStyle/>
          <a:p>
            <a:pPr marL="0" indent="0" algn="l">
              <a:lnSpc>
                <a:spcPts val="2000"/>
              </a:lnSpc>
              <a:buNone/>
            </a:pPr>
            <a:r>
              <a:rPr lang="en-US" sz="1250" b="1" dirty="0">
                <a:solidFill>
                  <a:srgbClr val="FFFFFF"/>
                </a:solidFill>
                <a:latin typeface="Crimson Pro Bold" pitchFamily="34" charset="0"/>
                <a:ea typeface="Crimson Pro Bold" pitchFamily="34" charset="-122"/>
                <a:cs typeface="Crimson Pro Bold" pitchFamily="34" charset="-120"/>
              </a:rPr>
              <a:t>2</a:t>
            </a:r>
            <a:endParaRPr lang="en-US" sz="1250" dirty="0"/>
          </a:p>
        </p:txBody>
      </p:sp>
      <p:sp>
        <p:nvSpPr>
          <p:cNvPr id="15" name="Text 12"/>
          <p:cNvSpPr/>
          <p:nvPr/>
        </p:nvSpPr>
        <p:spPr>
          <a:xfrm>
            <a:off x="870109" y="3939064"/>
            <a:ext cx="1674019" cy="209193"/>
          </a:xfrm>
          <a:prstGeom prst="rect">
            <a:avLst/>
          </a:prstGeom>
          <a:noFill/>
          <a:ln/>
        </p:spPr>
        <p:txBody>
          <a:bodyPr wrap="none" lIns="0" tIns="0" rIns="0" bIns="0" rtlCol="0" anchor="t"/>
          <a:lstStyle/>
          <a:p>
            <a:pPr marL="0" indent="0" algn="l">
              <a:lnSpc>
                <a:spcPts val="1600"/>
              </a:lnSpc>
              <a:buNone/>
            </a:pPr>
            <a:r>
              <a:rPr lang="en-US" sz="1300" b="1" dirty="0">
                <a:solidFill>
                  <a:srgbClr val="443728"/>
                </a:solidFill>
                <a:latin typeface="Crimson Pro Bold" pitchFamily="34" charset="0"/>
                <a:ea typeface="Crimson Pro Bold" pitchFamily="34" charset="-122"/>
                <a:cs typeface="Crimson Pro Bold" pitchFamily="34" charset="-120"/>
              </a:rPr>
              <a:t>Boost Engagement</a:t>
            </a:r>
            <a:endParaRPr lang="en-US" sz="1300" dirty="0"/>
          </a:p>
        </p:txBody>
      </p:sp>
      <p:sp>
        <p:nvSpPr>
          <p:cNvPr id="16" name="Text 13"/>
          <p:cNvSpPr/>
          <p:nvPr/>
        </p:nvSpPr>
        <p:spPr>
          <a:xfrm>
            <a:off x="870109" y="4228505"/>
            <a:ext cx="7403783" cy="214312"/>
          </a:xfrm>
          <a:prstGeom prst="rect">
            <a:avLst/>
          </a:prstGeom>
          <a:noFill/>
          <a:ln/>
        </p:spPr>
        <p:txBody>
          <a:bodyPr wrap="none" lIns="0" tIns="0" rIns="0" bIns="0" rtlCol="0" anchor="t"/>
          <a:lstStyle/>
          <a:p>
            <a:pPr marL="0" indent="0" algn="l">
              <a:lnSpc>
                <a:spcPts val="1650"/>
              </a:lnSpc>
              <a:buNone/>
            </a:pPr>
            <a:r>
              <a:rPr lang="en-US" sz="1050" dirty="0">
                <a:solidFill>
                  <a:srgbClr val="443728"/>
                </a:solidFill>
                <a:latin typeface="Open Sans" pitchFamily="34" charset="0"/>
                <a:ea typeface="Open Sans" pitchFamily="34" charset="-122"/>
                <a:cs typeface="Open Sans" pitchFamily="34" charset="-120"/>
              </a:rPr>
              <a:t>Improve student engagement through interactive flashcards, gamified quizzes, and personalized learning experiences.</a:t>
            </a:r>
            <a:endParaRPr lang="en-US" sz="1050" dirty="0"/>
          </a:p>
        </p:txBody>
      </p:sp>
      <p:sp>
        <p:nvSpPr>
          <p:cNvPr id="17" name="Shape 14"/>
          <p:cNvSpPr/>
          <p:nvPr/>
        </p:nvSpPr>
        <p:spPr>
          <a:xfrm>
            <a:off x="721043" y="4926568"/>
            <a:ext cx="7701915" cy="1201936"/>
          </a:xfrm>
          <a:prstGeom prst="roundRect">
            <a:avLst>
              <a:gd name="adj" fmla="val 6086"/>
            </a:avLst>
          </a:prstGeom>
          <a:solidFill>
            <a:srgbClr val="FFFCFA"/>
          </a:solidFill>
          <a:ln/>
        </p:spPr>
      </p:sp>
      <p:sp>
        <p:nvSpPr>
          <p:cNvPr id="18" name="Shape 15"/>
          <p:cNvSpPr/>
          <p:nvPr/>
        </p:nvSpPr>
        <p:spPr>
          <a:xfrm>
            <a:off x="721043" y="4911328"/>
            <a:ext cx="7701915" cy="60960"/>
          </a:xfrm>
          <a:prstGeom prst="roundRect">
            <a:avLst>
              <a:gd name="adj" fmla="val 92269"/>
            </a:avLst>
          </a:prstGeom>
          <a:solidFill>
            <a:srgbClr val="835E54"/>
          </a:solidFill>
          <a:ln/>
        </p:spPr>
      </p:sp>
      <p:sp>
        <p:nvSpPr>
          <p:cNvPr id="19" name="Shape 16"/>
          <p:cNvSpPr/>
          <p:nvPr/>
        </p:nvSpPr>
        <p:spPr>
          <a:xfrm>
            <a:off x="4371142" y="4725710"/>
            <a:ext cx="401717" cy="401717"/>
          </a:xfrm>
          <a:prstGeom prst="roundRect">
            <a:avLst>
              <a:gd name="adj" fmla="val 227623"/>
            </a:avLst>
          </a:prstGeom>
          <a:solidFill>
            <a:srgbClr val="835E54"/>
          </a:solidFill>
          <a:ln/>
        </p:spPr>
      </p:sp>
      <p:sp>
        <p:nvSpPr>
          <p:cNvPr id="20" name="Text 17"/>
          <p:cNvSpPr/>
          <p:nvPr/>
        </p:nvSpPr>
        <p:spPr>
          <a:xfrm>
            <a:off x="4491633" y="4826079"/>
            <a:ext cx="160615" cy="200858"/>
          </a:xfrm>
          <a:prstGeom prst="rect">
            <a:avLst/>
          </a:prstGeom>
          <a:noFill/>
          <a:ln/>
        </p:spPr>
        <p:txBody>
          <a:bodyPr wrap="none" lIns="0" tIns="0" rIns="0" bIns="0" rtlCol="0" anchor="t"/>
          <a:lstStyle/>
          <a:p>
            <a:pPr marL="0" indent="0" algn="l">
              <a:lnSpc>
                <a:spcPts val="2000"/>
              </a:lnSpc>
              <a:buNone/>
            </a:pPr>
            <a:r>
              <a:rPr lang="en-US" sz="1250" b="1" dirty="0">
                <a:solidFill>
                  <a:srgbClr val="FFFFFF"/>
                </a:solidFill>
                <a:latin typeface="Crimson Pro Bold" pitchFamily="34" charset="0"/>
                <a:ea typeface="Crimson Pro Bold" pitchFamily="34" charset="-122"/>
                <a:cs typeface="Crimson Pro Bold" pitchFamily="34" charset="-120"/>
              </a:rPr>
              <a:t>3</a:t>
            </a:r>
            <a:endParaRPr lang="en-US" sz="1250" dirty="0"/>
          </a:p>
        </p:txBody>
      </p:sp>
      <p:sp>
        <p:nvSpPr>
          <p:cNvPr id="21" name="Text 18"/>
          <p:cNvSpPr/>
          <p:nvPr/>
        </p:nvSpPr>
        <p:spPr>
          <a:xfrm>
            <a:off x="870109" y="5261372"/>
            <a:ext cx="1674019" cy="209193"/>
          </a:xfrm>
          <a:prstGeom prst="rect">
            <a:avLst/>
          </a:prstGeom>
          <a:noFill/>
          <a:ln/>
        </p:spPr>
        <p:txBody>
          <a:bodyPr wrap="none" lIns="0" tIns="0" rIns="0" bIns="0" rtlCol="0" anchor="t"/>
          <a:lstStyle/>
          <a:p>
            <a:pPr marL="0" indent="0" algn="l">
              <a:lnSpc>
                <a:spcPts val="1600"/>
              </a:lnSpc>
              <a:buNone/>
            </a:pPr>
            <a:r>
              <a:rPr lang="en-US" sz="1300" b="1" dirty="0">
                <a:solidFill>
                  <a:srgbClr val="443728"/>
                </a:solidFill>
                <a:latin typeface="Crimson Pro Bold" pitchFamily="34" charset="0"/>
                <a:ea typeface="Crimson Pro Bold" pitchFamily="34" charset="-122"/>
                <a:cs typeface="Crimson Pro Bold" pitchFamily="34" charset="-120"/>
              </a:rPr>
              <a:t>Global Impact</a:t>
            </a:r>
            <a:endParaRPr lang="en-US" sz="1300" dirty="0"/>
          </a:p>
        </p:txBody>
      </p:sp>
      <p:sp>
        <p:nvSpPr>
          <p:cNvPr id="22" name="Text 19"/>
          <p:cNvSpPr/>
          <p:nvPr/>
        </p:nvSpPr>
        <p:spPr>
          <a:xfrm>
            <a:off x="870109" y="5550813"/>
            <a:ext cx="7403783" cy="428625"/>
          </a:xfrm>
          <a:prstGeom prst="rect">
            <a:avLst/>
          </a:prstGeom>
          <a:noFill/>
          <a:ln/>
        </p:spPr>
        <p:txBody>
          <a:bodyPr wrap="square" lIns="0" tIns="0" rIns="0" bIns="0" rtlCol="0" anchor="t"/>
          <a:lstStyle/>
          <a:p>
            <a:pPr marL="0" indent="0" algn="l">
              <a:lnSpc>
                <a:spcPts val="1650"/>
              </a:lnSpc>
              <a:buNone/>
            </a:pPr>
            <a:r>
              <a:rPr lang="en-US" sz="1050" dirty="0">
                <a:solidFill>
                  <a:srgbClr val="443728"/>
                </a:solidFill>
                <a:latin typeface="Open Sans" pitchFamily="34" charset="0"/>
                <a:ea typeface="Open Sans" pitchFamily="34" charset="-122"/>
                <a:cs typeface="Open Sans" pitchFamily="34" charset="-120"/>
              </a:rPr>
              <a:t>Support learning in different languages, reaching underserved populations worldwide and breaking down language barriers.</a:t>
            </a:r>
            <a:endParaRPr lang="en-US" sz="1050" dirty="0"/>
          </a:p>
        </p:txBody>
      </p:sp>
      <p:sp>
        <p:nvSpPr>
          <p:cNvPr id="23" name="Shape 20"/>
          <p:cNvSpPr/>
          <p:nvPr/>
        </p:nvSpPr>
        <p:spPr>
          <a:xfrm>
            <a:off x="721043" y="6463189"/>
            <a:ext cx="7701915" cy="987623"/>
          </a:xfrm>
          <a:prstGeom prst="roundRect">
            <a:avLst>
              <a:gd name="adj" fmla="val 7407"/>
            </a:avLst>
          </a:prstGeom>
          <a:solidFill>
            <a:srgbClr val="FFFCFA"/>
          </a:solidFill>
          <a:ln/>
        </p:spPr>
      </p:sp>
      <p:sp>
        <p:nvSpPr>
          <p:cNvPr id="24" name="Shape 21"/>
          <p:cNvSpPr/>
          <p:nvPr/>
        </p:nvSpPr>
        <p:spPr>
          <a:xfrm>
            <a:off x="721043" y="6447949"/>
            <a:ext cx="7701915" cy="60960"/>
          </a:xfrm>
          <a:prstGeom prst="roundRect">
            <a:avLst>
              <a:gd name="adj" fmla="val 92269"/>
            </a:avLst>
          </a:prstGeom>
          <a:solidFill>
            <a:srgbClr val="835E54"/>
          </a:solidFill>
          <a:ln/>
        </p:spPr>
      </p:sp>
      <p:sp>
        <p:nvSpPr>
          <p:cNvPr id="25" name="Shape 22"/>
          <p:cNvSpPr/>
          <p:nvPr/>
        </p:nvSpPr>
        <p:spPr>
          <a:xfrm>
            <a:off x="4371142" y="6262330"/>
            <a:ext cx="401717" cy="401717"/>
          </a:xfrm>
          <a:prstGeom prst="roundRect">
            <a:avLst>
              <a:gd name="adj" fmla="val 227623"/>
            </a:avLst>
          </a:prstGeom>
          <a:solidFill>
            <a:srgbClr val="835E54"/>
          </a:solidFill>
          <a:ln/>
        </p:spPr>
      </p:sp>
      <p:sp>
        <p:nvSpPr>
          <p:cNvPr id="26" name="Text 23"/>
          <p:cNvSpPr/>
          <p:nvPr/>
        </p:nvSpPr>
        <p:spPr>
          <a:xfrm>
            <a:off x="4491633" y="6362700"/>
            <a:ext cx="160615" cy="200858"/>
          </a:xfrm>
          <a:prstGeom prst="rect">
            <a:avLst/>
          </a:prstGeom>
          <a:noFill/>
          <a:ln/>
        </p:spPr>
        <p:txBody>
          <a:bodyPr wrap="none" lIns="0" tIns="0" rIns="0" bIns="0" rtlCol="0" anchor="t"/>
          <a:lstStyle/>
          <a:p>
            <a:pPr marL="0" indent="0" algn="l">
              <a:lnSpc>
                <a:spcPts val="2000"/>
              </a:lnSpc>
              <a:buNone/>
            </a:pPr>
            <a:r>
              <a:rPr lang="en-US" sz="1250" b="1" dirty="0">
                <a:solidFill>
                  <a:srgbClr val="FFFFFF"/>
                </a:solidFill>
                <a:latin typeface="Crimson Pro Bold" pitchFamily="34" charset="0"/>
                <a:ea typeface="Crimson Pro Bold" pitchFamily="34" charset="-122"/>
                <a:cs typeface="Crimson Pro Bold" pitchFamily="34" charset="-120"/>
              </a:rPr>
              <a:t>4</a:t>
            </a:r>
            <a:endParaRPr lang="en-US" sz="1250" dirty="0"/>
          </a:p>
        </p:txBody>
      </p:sp>
      <p:sp>
        <p:nvSpPr>
          <p:cNvPr id="27" name="Text 24"/>
          <p:cNvSpPr/>
          <p:nvPr/>
        </p:nvSpPr>
        <p:spPr>
          <a:xfrm>
            <a:off x="870109" y="6797993"/>
            <a:ext cx="1674019" cy="209193"/>
          </a:xfrm>
          <a:prstGeom prst="rect">
            <a:avLst/>
          </a:prstGeom>
          <a:noFill/>
          <a:ln/>
        </p:spPr>
        <p:txBody>
          <a:bodyPr wrap="none" lIns="0" tIns="0" rIns="0" bIns="0" rtlCol="0" anchor="t"/>
          <a:lstStyle/>
          <a:p>
            <a:pPr marL="0" indent="0" algn="l">
              <a:lnSpc>
                <a:spcPts val="1600"/>
              </a:lnSpc>
              <a:buNone/>
            </a:pPr>
            <a:r>
              <a:rPr lang="en-US" sz="1300" b="1" dirty="0">
                <a:solidFill>
                  <a:srgbClr val="443728"/>
                </a:solidFill>
                <a:latin typeface="Crimson Pro Bold" pitchFamily="34" charset="0"/>
                <a:ea typeface="Crimson Pro Bold" pitchFamily="34" charset="-122"/>
                <a:cs typeface="Crimson Pro Bold" pitchFamily="34" charset="-120"/>
              </a:rPr>
              <a:t>Foster Inclusivity</a:t>
            </a:r>
            <a:endParaRPr lang="en-US" sz="1300" dirty="0"/>
          </a:p>
        </p:txBody>
      </p:sp>
      <p:sp>
        <p:nvSpPr>
          <p:cNvPr id="28" name="Text 25"/>
          <p:cNvSpPr/>
          <p:nvPr/>
        </p:nvSpPr>
        <p:spPr>
          <a:xfrm>
            <a:off x="870109" y="7087433"/>
            <a:ext cx="7403783" cy="214312"/>
          </a:xfrm>
          <a:prstGeom prst="rect">
            <a:avLst/>
          </a:prstGeom>
          <a:noFill/>
          <a:ln/>
        </p:spPr>
        <p:txBody>
          <a:bodyPr wrap="none" lIns="0" tIns="0" rIns="0" bIns="0" rtlCol="0" anchor="t"/>
          <a:lstStyle/>
          <a:p>
            <a:pPr marL="0" indent="0" algn="l">
              <a:lnSpc>
                <a:spcPts val="1650"/>
              </a:lnSpc>
              <a:buNone/>
            </a:pPr>
            <a:r>
              <a:rPr lang="en-US" sz="1050" dirty="0">
                <a:solidFill>
                  <a:srgbClr val="443728"/>
                </a:solidFill>
                <a:latin typeface="Open Sans" pitchFamily="34" charset="0"/>
                <a:ea typeface="Open Sans" pitchFamily="34" charset="-122"/>
                <a:cs typeface="Open Sans" pitchFamily="34" charset="-120"/>
              </a:rPr>
              <a:t>Equip educators with study materials that effortlessly adapt content for all learners, creating truly inclusive classrooms.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8648" y="626983"/>
            <a:ext cx="13413105" cy="264319"/>
          </a:xfrm>
          <a:prstGeom prst="rect">
            <a:avLst/>
          </a:prstGeom>
          <a:noFill/>
          <a:ln/>
        </p:spPr>
        <p:txBody>
          <a:bodyPr wrap="none" lIns="0" tIns="0" rIns="0" bIns="0" rtlCol="0" anchor="t"/>
          <a:lstStyle/>
          <a:p>
            <a:pPr marL="0" indent="0" algn="l">
              <a:lnSpc>
                <a:spcPts val="2050"/>
              </a:lnSpc>
              <a:buNone/>
            </a:pPr>
            <a:r>
              <a:rPr lang="en-US" sz="1300" b="1" dirty="0">
                <a:solidFill>
                  <a:srgbClr val="835E54"/>
                </a:solidFill>
                <a:latin typeface="Open Sans" pitchFamily="34" charset="0"/>
                <a:ea typeface="Open Sans" pitchFamily="34" charset="-122"/>
                <a:cs typeface="Open Sans" pitchFamily="34" charset="-120"/>
              </a:rPr>
              <a:t>Technology Stack</a:t>
            </a:r>
            <a:endParaRPr lang="en-US" sz="1300" dirty="0"/>
          </a:p>
        </p:txBody>
      </p:sp>
      <p:sp>
        <p:nvSpPr>
          <p:cNvPr id="3" name="Text 1"/>
          <p:cNvSpPr/>
          <p:nvPr/>
        </p:nvSpPr>
        <p:spPr>
          <a:xfrm>
            <a:off x="608648" y="1056442"/>
            <a:ext cx="7962543" cy="516255"/>
          </a:xfrm>
          <a:prstGeom prst="rect">
            <a:avLst/>
          </a:prstGeom>
          <a:noFill/>
          <a:ln/>
        </p:spPr>
        <p:txBody>
          <a:bodyPr wrap="none" lIns="0" tIns="0" rIns="0" bIns="0" rtlCol="0" anchor="t"/>
          <a:lstStyle/>
          <a:p>
            <a:pPr marL="0" indent="0" algn="l">
              <a:lnSpc>
                <a:spcPts val="4050"/>
              </a:lnSpc>
              <a:buNone/>
            </a:pPr>
            <a:r>
              <a:rPr lang="en-US" sz="3250" b="1" dirty="0">
                <a:solidFill>
                  <a:srgbClr val="443728"/>
                </a:solidFill>
                <a:latin typeface="Crimson Pro Bold" pitchFamily="34" charset="0"/>
                <a:ea typeface="Crimson Pro Bold" pitchFamily="34" charset="-122"/>
                <a:cs typeface="Crimson Pro Bold" pitchFamily="34" charset="-120"/>
              </a:rPr>
              <a:t>Cutting-Edge Tools for a Seamless Experience</a:t>
            </a:r>
            <a:endParaRPr lang="en-US" sz="3250" dirty="0"/>
          </a:p>
        </p:txBody>
      </p:sp>
      <p:sp>
        <p:nvSpPr>
          <p:cNvPr id="4" name="Text 2"/>
          <p:cNvSpPr/>
          <p:nvPr/>
        </p:nvSpPr>
        <p:spPr>
          <a:xfrm>
            <a:off x="608648" y="1820466"/>
            <a:ext cx="13413105" cy="264319"/>
          </a:xfrm>
          <a:prstGeom prst="rect">
            <a:avLst/>
          </a:prstGeom>
          <a:noFill/>
          <a:ln/>
        </p:spPr>
        <p:txBody>
          <a:bodyPr wrap="none" lIns="0" tIns="0" rIns="0" bIns="0" rtlCol="0" anchor="t"/>
          <a:lstStyle/>
          <a:p>
            <a:pPr marL="0" indent="0" algn="l">
              <a:lnSpc>
                <a:spcPts val="2050"/>
              </a:lnSpc>
              <a:buNone/>
            </a:pPr>
            <a:r>
              <a:rPr lang="en-US" sz="1300" dirty="0">
                <a:solidFill>
                  <a:srgbClr val="443728"/>
                </a:solidFill>
                <a:latin typeface="Open Sans" pitchFamily="34" charset="0"/>
                <a:ea typeface="Open Sans" pitchFamily="34" charset="-122"/>
                <a:cs typeface="Open Sans" pitchFamily="34" charset="-120"/>
              </a:rPr>
              <a:t>Our modular, database-based architecture, powered by React, Flask, and the OpenAI API, ensures flexibility and rapid deployment for continuous innovation.</a:t>
            </a:r>
            <a:endParaRPr lang="en-US" sz="1300" dirty="0"/>
          </a:p>
        </p:txBody>
      </p:sp>
      <p:pic>
        <p:nvPicPr>
          <p:cNvPr id="5" name="Image 0" descr="preencoded.png"/>
          <p:cNvPicPr>
            <a:picLocks noChangeAspect="1"/>
          </p:cNvPicPr>
          <p:nvPr/>
        </p:nvPicPr>
        <p:blipFill>
          <a:blip r:embed="rId3"/>
          <a:stretch>
            <a:fillRect/>
          </a:stretch>
        </p:blipFill>
        <p:spPr>
          <a:xfrm>
            <a:off x="608648" y="2456498"/>
            <a:ext cx="3948232" cy="3948232"/>
          </a:xfrm>
          <a:prstGeom prst="rect">
            <a:avLst/>
          </a:prstGeom>
        </p:spPr>
      </p:pic>
      <p:sp>
        <p:nvSpPr>
          <p:cNvPr id="6" name="Text 3"/>
          <p:cNvSpPr/>
          <p:nvPr/>
        </p:nvSpPr>
        <p:spPr>
          <a:xfrm>
            <a:off x="608648" y="6590586"/>
            <a:ext cx="2406968" cy="258128"/>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Frontend: HTML5 and CSS3</a:t>
            </a:r>
            <a:endParaRPr lang="en-US" sz="1600" dirty="0"/>
          </a:p>
        </p:txBody>
      </p:sp>
      <p:sp>
        <p:nvSpPr>
          <p:cNvPr id="7" name="Text 4"/>
          <p:cNvSpPr/>
          <p:nvPr/>
        </p:nvSpPr>
        <p:spPr>
          <a:xfrm>
            <a:off x="608648" y="7013853"/>
            <a:ext cx="4156115" cy="528638"/>
          </a:xfrm>
          <a:prstGeom prst="rect">
            <a:avLst/>
          </a:prstGeom>
          <a:noFill/>
          <a:ln/>
        </p:spPr>
        <p:txBody>
          <a:bodyPr wrap="square" lIns="0" tIns="0" rIns="0" bIns="0" rtlCol="0" anchor="t"/>
          <a:lstStyle/>
          <a:p>
            <a:pPr marL="0" indent="0" algn="l">
              <a:lnSpc>
                <a:spcPts val="2050"/>
              </a:lnSpc>
              <a:buNone/>
            </a:pPr>
            <a:r>
              <a:rPr lang="en-US" sz="1300" dirty="0">
                <a:solidFill>
                  <a:srgbClr val="443728"/>
                </a:solidFill>
                <a:latin typeface="Open Sans" pitchFamily="34" charset="0"/>
                <a:ea typeface="Open Sans" pitchFamily="34" charset="-122"/>
                <a:cs typeface="Open Sans" pitchFamily="34" charset="-120"/>
              </a:rPr>
              <a:t>Dynamic and responsive user interfaces designed for optimal learning experiences across all devices.</a:t>
            </a:r>
            <a:endParaRPr lang="en-US" sz="1300" dirty="0"/>
          </a:p>
        </p:txBody>
      </p:sp>
      <p:pic>
        <p:nvPicPr>
          <p:cNvPr id="8" name="Image 1" descr="preencoded.png"/>
          <p:cNvPicPr>
            <a:picLocks noChangeAspect="1"/>
          </p:cNvPicPr>
          <p:nvPr/>
        </p:nvPicPr>
        <p:blipFill>
          <a:blip r:embed="rId4"/>
          <a:stretch>
            <a:fillRect/>
          </a:stretch>
        </p:blipFill>
        <p:spPr>
          <a:xfrm>
            <a:off x="5175528" y="2456498"/>
            <a:ext cx="3948232" cy="3948232"/>
          </a:xfrm>
          <a:prstGeom prst="rect">
            <a:avLst/>
          </a:prstGeom>
        </p:spPr>
      </p:pic>
      <p:sp>
        <p:nvSpPr>
          <p:cNvPr id="9" name="Text 5"/>
          <p:cNvSpPr/>
          <p:nvPr/>
        </p:nvSpPr>
        <p:spPr>
          <a:xfrm>
            <a:off x="5175528" y="6590586"/>
            <a:ext cx="2065377" cy="258128"/>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Backend: Flask</a:t>
            </a:r>
            <a:endParaRPr lang="en-US" sz="1600" dirty="0"/>
          </a:p>
        </p:txBody>
      </p:sp>
      <p:sp>
        <p:nvSpPr>
          <p:cNvPr id="10" name="Text 6"/>
          <p:cNvSpPr/>
          <p:nvPr/>
        </p:nvSpPr>
        <p:spPr>
          <a:xfrm>
            <a:off x="5175528" y="7013853"/>
            <a:ext cx="4156115" cy="528638"/>
          </a:xfrm>
          <a:prstGeom prst="rect">
            <a:avLst/>
          </a:prstGeom>
          <a:noFill/>
          <a:ln/>
        </p:spPr>
        <p:txBody>
          <a:bodyPr wrap="square" lIns="0" tIns="0" rIns="0" bIns="0" rtlCol="0" anchor="t"/>
          <a:lstStyle/>
          <a:p>
            <a:pPr marL="0" indent="0" algn="l">
              <a:lnSpc>
                <a:spcPts val="2050"/>
              </a:lnSpc>
              <a:buNone/>
            </a:pPr>
            <a:r>
              <a:rPr lang="en-US" sz="1300" dirty="0">
                <a:solidFill>
                  <a:srgbClr val="443728"/>
                </a:solidFill>
                <a:latin typeface="Open Sans" pitchFamily="34" charset="0"/>
                <a:ea typeface="Open Sans" pitchFamily="34" charset="-122"/>
                <a:cs typeface="Open Sans" pitchFamily="34" charset="-120"/>
              </a:rPr>
              <a:t>Robust and scalable backend infrastructure for seamless data management and application logic.</a:t>
            </a:r>
            <a:endParaRPr lang="en-US" sz="1300" dirty="0"/>
          </a:p>
        </p:txBody>
      </p:sp>
      <p:pic>
        <p:nvPicPr>
          <p:cNvPr id="11" name="Image 2" descr="preencoded.png"/>
          <p:cNvPicPr>
            <a:picLocks noChangeAspect="1"/>
          </p:cNvPicPr>
          <p:nvPr/>
        </p:nvPicPr>
        <p:blipFill>
          <a:blip r:embed="rId5"/>
          <a:stretch>
            <a:fillRect/>
          </a:stretch>
        </p:blipFill>
        <p:spPr>
          <a:xfrm>
            <a:off x="9742408" y="2456498"/>
            <a:ext cx="4079557" cy="4079558"/>
          </a:xfrm>
          <a:prstGeom prst="rect">
            <a:avLst/>
          </a:prstGeom>
        </p:spPr>
      </p:pic>
      <p:sp>
        <p:nvSpPr>
          <p:cNvPr id="12" name="Text 7"/>
          <p:cNvSpPr/>
          <p:nvPr/>
        </p:nvSpPr>
        <p:spPr>
          <a:xfrm>
            <a:off x="9742408" y="6721912"/>
            <a:ext cx="2065377" cy="258128"/>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AI Core: OpenAI API</a:t>
            </a:r>
            <a:endParaRPr lang="en-US" sz="1600" dirty="0"/>
          </a:p>
        </p:txBody>
      </p:sp>
      <p:sp>
        <p:nvSpPr>
          <p:cNvPr id="13" name="Text 8"/>
          <p:cNvSpPr/>
          <p:nvPr/>
        </p:nvSpPr>
        <p:spPr>
          <a:xfrm>
            <a:off x="9742408" y="7145179"/>
            <a:ext cx="4294346" cy="792956"/>
          </a:xfrm>
          <a:prstGeom prst="rect">
            <a:avLst/>
          </a:prstGeom>
          <a:noFill/>
          <a:ln/>
        </p:spPr>
        <p:txBody>
          <a:bodyPr wrap="square" lIns="0" tIns="0" rIns="0" bIns="0" rtlCol="0" anchor="t"/>
          <a:lstStyle/>
          <a:p>
            <a:pPr marL="0" indent="0" algn="l">
              <a:lnSpc>
                <a:spcPts val="2050"/>
              </a:lnSpc>
              <a:buNone/>
            </a:pPr>
            <a:r>
              <a:rPr lang="en-US" sz="1300" dirty="0">
                <a:solidFill>
                  <a:srgbClr val="443728"/>
                </a:solidFill>
                <a:latin typeface="Open Sans" pitchFamily="34" charset="0"/>
                <a:ea typeface="Open Sans" pitchFamily="34" charset="-122"/>
                <a:cs typeface="Open Sans" pitchFamily="34" charset="-120"/>
              </a:rPr>
              <a:t>Leveraging advanced AI capabilities for intelligent content transformation and personalized learning features.</a:t>
            </a:r>
            <a:endParaRPr lang="en-US" sz="1300" dirty="0"/>
          </a:p>
        </p:txBody>
      </p:sp>
      <p:sp>
        <p:nvSpPr>
          <p:cNvPr id="14" name="TextBox 13">
            <a:extLst>
              <a:ext uri="{FF2B5EF4-FFF2-40B4-BE49-F238E27FC236}">
                <a16:creationId xmlns:a16="http://schemas.microsoft.com/office/drawing/2014/main" id="{61B9F623-56F1-DE7B-FA69-24BAFB279786}"/>
              </a:ext>
            </a:extLst>
          </p:cNvPr>
          <p:cNvSpPr txBox="1"/>
          <p:nvPr/>
        </p:nvSpPr>
        <p:spPr>
          <a:xfrm>
            <a:off x="12650992" y="7799294"/>
            <a:ext cx="1979407" cy="430306"/>
          </a:xfrm>
          <a:prstGeom prst="rect">
            <a:avLst/>
          </a:prstGeom>
          <a:solidFill>
            <a:srgbClr val="FFFCFA"/>
          </a:solidFill>
        </p:spPr>
        <p:txBody>
          <a:bodyPr wrap="square"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28268" y="420291"/>
            <a:ext cx="13773864" cy="127159"/>
          </a:xfrm>
          <a:prstGeom prst="rect">
            <a:avLst/>
          </a:prstGeom>
          <a:noFill/>
          <a:ln/>
        </p:spPr>
        <p:txBody>
          <a:bodyPr wrap="none" lIns="0" tIns="0" rIns="0" bIns="0" rtlCol="0" anchor="t"/>
          <a:lstStyle/>
          <a:p>
            <a:pPr marL="0" indent="0" algn="l">
              <a:lnSpc>
                <a:spcPts val="1000"/>
              </a:lnSpc>
              <a:buNone/>
            </a:pPr>
            <a:r>
              <a:rPr lang="en-US" sz="1200" b="1" dirty="0">
                <a:solidFill>
                  <a:srgbClr val="835E54"/>
                </a:solidFill>
                <a:latin typeface="Open Sans" pitchFamily="34" charset="0"/>
                <a:ea typeface="Open Sans" pitchFamily="34" charset="-122"/>
                <a:cs typeface="Open Sans" pitchFamily="34" charset="-120"/>
              </a:rPr>
              <a:t>System Workflow &amp; Architecture</a:t>
            </a:r>
            <a:endParaRPr lang="en-US" sz="1200" dirty="0"/>
          </a:p>
        </p:txBody>
      </p:sp>
      <p:sp>
        <p:nvSpPr>
          <p:cNvPr id="3" name="Text 1"/>
          <p:cNvSpPr/>
          <p:nvPr/>
        </p:nvSpPr>
        <p:spPr>
          <a:xfrm>
            <a:off x="428268" y="626983"/>
            <a:ext cx="3883343" cy="248483"/>
          </a:xfrm>
          <a:prstGeom prst="rect">
            <a:avLst/>
          </a:prstGeom>
          <a:noFill/>
          <a:ln/>
        </p:spPr>
        <p:txBody>
          <a:bodyPr wrap="none" lIns="0" tIns="0" rIns="0" bIns="0" rtlCol="0" anchor="t"/>
          <a:lstStyle/>
          <a:p>
            <a:pPr marL="0" indent="0" algn="l">
              <a:lnSpc>
                <a:spcPts val="1950"/>
              </a:lnSpc>
              <a:buNone/>
            </a:pPr>
            <a:r>
              <a:rPr lang="en-US" sz="2400" b="1" dirty="0">
                <a:solidFill>
                  <a:srgbClr val="443728"/>
                </a:solidFill>
                <a:latin typeface="Crimson Pro Bold" pitchFamily="34" charset="0"/>
                <a:ea typeface="Crimson Pro Bold" pitchFamily="34" charset="-122"/>
                <a:cs typeface="Crimson Pro Bold" pitchFamily="34" charset="-120"/>
              </a:rPr>
              <a:t>Transforming Content, Empowering Learning</a:t>
            </a:r>
            <a:endParaRPr lang="en-US" sz="2400" dirty="0"/>
          </a:p>
        </p:txBody>
      </p:sp>
      <p:pic>
        <p:nvPicPr>
          <p:cNvPr id="4" name="Image 0" descr="preencoded.png"/>
          <p:cNvPicPr>
            <a:picLocks noChangeAspect="1"/>
          </p:cNvPicPr>
          <p:nvPr/>
        </p:nvPicPr>
        <p:blipFill>
          <a:blip r:embed="rId3"/>
          <a:stretch>
            <a:fillRect/>
          </a:stretch>
        </p:blipFill>
        <p:spPr>
          <a:xfrm>
            <a:off x="514330" y="1016482"/>
            <a:ext cx="4699143" cy="3681760"/>
          </a:xfrm>
          <a:prstGeom prst="rect">
            <a:avLst/>
          </a:prstGeom>
        </p:spPr>
      </p:pic>
      <p:pic>
        <p:nvPicPr>
          <p:cNvPr id="5" name="Image 1" descr="preencoded.png"/>
          <p:cNvPicPr>
            <a:picLocks noChangeAspect="1"/>
          </p:cNvPicPr>
          <p:nvPr/>
        </p:nvPicPr>
        <p:blipFill>
          <a:blip r:embed="rId4"/>
          <a:stretch>
            <a:fillRect/>
          </a:stretch>
        </p:blipFill>
        <p:spPr>
          <a:xfrm>
            <a:off x="428268" y="4839258"/>
            <a:ext cx="397669" cy="477322"/>
          </a:xfrm>
          <a:prstGeom prst="rect">
            <a:avLst/>
          </a:prstGeom>
        </p:spPr>
      </p:pic>
      <p:sp>
        <p:nvSpPr>
          <p:cNvPr id="6" name="Text 2"/>
          <p:cNvSpPr/>
          <p:nvPr/>
        </p:nvSpPr>
        <p:spPr>
          <a:xfrm>
            <a:off x="913072" y="5077919"/>
            <a:ext cx="994410" cy="124182"/>
          </a:xfrm>
          <a:prstGeom prst="rect">
            <a:avLst/>
          </a:prstGeom>
          <a:noFill/>
          <a:ln/>
        </p:spPr>
        <p:txBody>
          <a:bodyPr wrap="none" lIns="0" tIns="0" rIns="0" bIns="0" rtlCol="0" anchor="t"/>
          <a:lstStyle/>
          <a:p>
            <a:pPr marL="0" indent="0" algn="l">
              <a:lnSpc>
                <a:spcPts val="950"/>
              </a:lnSpc>
              <a:buNone/>
            </a:pPr>
            <a:r>
              <a:rPr lang="en-US" sz="2400" b="1" dirty="0">
                <a:solidFill>
                  <a:srgbClr val="443728"/>
                </a:solidFill>
                <a:latin typeface="Crimson Pro Bold" pitchFamily="34" charset="0"/>
                <a:ea typeface="Crimson Pro Bold" pitchFamily="34" charset="-122"/>
                <a:cs typeface="Crimson Pro Bold" pitchFamily="34" charset="-120"/>
              </a:rPr>
              <a:t>Upload PDF</a:t>
            </a:r>
            <a:endParaRPr lang="en-US" sz="2400" dirty="0"/>
          </a:p>
        </p:txBody>
      </p:sp>
      <p:sp>
        <p:nvSpPr>
          <p:cNvPr id="7" name="Text 3"/>
          <p:cNvSpPr/>
          <p:nvPr/>
        </p:nvSpPr>
        <p:spPr>
          <a:xfrm>
            <a:off x="825937" y="5404148"/>
            <a:ext cx="13296662" cy="127159"/>
          </a:xfrm>
          <a:prstGeom prst="rect">
            <a:avLst/>
          </a:prstGeom>
          <a:noFill/>
          <a:ln/>
        </p:spPr>
        <p:txBody>
          <a:bodyPr wrap="none" lIns="0" tIns="0" rIns="0" bIns="0" rtlCol="0" anchor="t"/>
          <a:lstStyle/>
          <a:p>
            <a:pPr marL="0" indent="0" algn="l">
              <a:lnSpc>
                <a:spcPts val="1000"/>
              </a:lnSpc>
              <a:buNone/>
            </a:pPr>
            <a:r>
              <a:rPr lang="en-US" sz="2000" dirty="0">
                <a:solidFill>
                  <a:srgbClr val="443728"/>
                </a:solidFill>
                <a:latin typeface="Open Sans" pitchFamily="34" charset="0"/>
                <a:ea typeface="Open Sans" pitchFamily="34" charset="-122"/>
                <a:cs typeface="Open Sans" pitchFamily="34" charset="-120"/>
              </a:rPr>
              <a:t>User submits source document through our intuitive interface</a:t>
            </a:r>
            <a:endParaRPr lang="en-US" sz="2000" dirty="0"/>
          </a:p>
        </p:txBody>
      </p:sp>
      <p:pic>
        <p:nvPicPr>
          <p:cNvPr id="8" name="Image 2" descr="preencoded.png"/>
          <p:cNvPicPr>
            <a:picLocks noChangeAspect="1"/>
          </p:cNvPicPr>
          <p:nvPr/>
        </p:nvPicPr>
        <p:blipFill>
          <a:blip r:embed="rId5"/>
          <a:stretch>
            <a:fillRect/>
          </a:stretch>
        </p:blipFill>
        <p:spPr>
          <a:xfrm>
            <a:off x="420664" y="5533092"/>
            <a:ext cx="397669" cy="477322"/>
          </a:xfrm>
          <a:prstGeom prst="rect">
            <a:avLst/>
          </a:prstGeom>
        </p:spPr>
      </p:pic>
      <p:sp>
        <p:nvSpPr>
          <p:cNvPr id="9" name="Text 4"/>
          <p:cNvSpPr/>
          <p:nvPr/>
        </p:nvSpPr>
        <p:spPr>
          <a:xfrm>
            <a:off x="913072" y="5709662"/>
            <a:ext cx="994410" cy="124182"/>
          </a:xfrm>
          <a:prstGeom prst="rect">
            <a:avLst/>
          </a:prstGeom>
          <a:noFill/>
          <a:ln/>
        </p:spPr>
        <p:txBody>
          <a:bodyPr wrap="none" lIns="0" tIns="0" rIns="0" bIns="0" rtlCol="0" anchor="t"/>
          <a:lstStyle/>
          <a:p>
            <a:pPr marL="0" indent="0" algn="l">
              <a:lnSpc>
                <a:spcPts val="950"/>
              </a:lnSpc>
              <a:buNone/>
            </a:pPr>
            <a:r>
              <a:rPr lang="en-US" sz="2400" b="1" dirty="0">
                <a:solidFill>
                  <a:srgbClr val="443728"/>
                </a:solidFill>
                <a:latin typeface="Crimson Pro Bold" pitchFamily="34" charset="0"/>
                <a:ea typeface="Crimson Pro Bold" pitchFamily="34" charset="-122"/>
                <a:cs typeface="Crimson Pro Bold" pitchFamily="34" charset="-120"/>
              </a:rPr>
              <a:t>AI Processing</a:t>
            </a:r>
            <a:endParaRPr lang="en-US" sz="2400" dirty="0"/>
          </a:p>
        </p:txBody>
      </p:sp>
      <p:sp>
        <p:nvSpPr>
          <p:cNvPr id="10" name="Text 5"/>
          <p:cNvSpPr/>
          <p:nvPr/>
        </p:nvSpPr>
        <p:spPr>
          <a:xfrm>
            <a:off x="905470" y="5989666"/>
            <a:ext cx="13296662" cy="127159"/>
          </a:xfrm>
          <a:prstGeom prst="rect">
            <a:avLst/>
          </a:prstGeom>
          <a:noFill/>
          <a:ln/>
        </p:spPr>
        <p:txBody>
          <a:bodyPr wrap="none" lIns="0" tIns="0" rIns="0" bIns="0" rtlCol="0" anchor="t"/>
          <a:lstStyle/>
          <a:p>
            <a:pPr marL="0" indent="0" algn="l">
              <a:lnSpc>
                <a:spcPts val="1000"/>
              </a:lnSpc>
              <a:buNone/>
            </a:pPr>
            <a:r>
              <a:rPr lang="en-US" sz="2000" dirty="0">
                <a:solidFill>
                  <a:srgbClr val="443728"/>
                </a:solidFill>
                <a:latin typeface="Open Sans" pitchFamily="34" charset="0"/>
                <a:ea typeface="Open Sans" pitchFamily="34" charset="-122"/>
                <a:cs typeface="Open Sans" pitchFamily="34" charset="-120"/>
              </a:rPr>
              <a:t>Summarize, translate, and format content using advanced AI algorithms</a:t>
            </a:r>
            <a:endParaRPr lang="en-US" sz="2000" dirty="0"/>
          </a:p>
        </p:txBody>
      </p:sp>
      <p:pic>
        <p:nvPicPr>
          <p:cNvPr id="11" name="Image 3" descr="preencoded.png"/>
          <p:cNvPicPr>
            <a:picLocks noChangeAspect="1"/>
          </p:cNvPicPr>
          <p:nvPr/>
        </p:nvPicPr>
        <p:blipFill>
          <a:blip r:embed="rId6"/>
          <a:stretch>
            <a:fillRect/>
          </a:stretch>
        </p:blipFill>
        <p:spPr>
          <a:xfrm>
            <a:off x="420665" y="6178154"/>
            <a:ext cx="397669" cy="477322"/>
          </a:xfrm>
          <a:prstGeom prst="rect">
            <a:avLst/>
          </a:prstGeom>
        </p:spPr>
      </p:pic>
      <p:sp>
        <p:nvSpPr>
          <p:cNvPr id="12" name="Text 6"/>
          <p:cNvSpPr/>
          <p:nvPr/>
        </p:nvSpPr>
        <p:spPr>
          <a:xfrm>
            <a:off x="905470" y="6312182"/>
            <a:ext cx="994410" cy="124182"/>
          </a:xfrm>
          <a:prstGeom prst="rect">
            <a:avLst/>
          </a:prstGeom>
          <a:noFill/>
          <a:ln/>
        </p:spPr>
        <p:txBody>
          <a:bodyPr wrap="none" lIns="0" tIns="0" rIns="0" bIns="0" rtlCol="0" anchor="t"/>
          <a:lstStyle/>
          <a:p>
            <a:pPr marL="0" indent="0" algn="l">
              <a:lnSpc>
                <a:spcPts val="950"/>
              </a:lnSpc>
              <a:buNone/>
            </a:pPr>
            <a:r>
              <a:rPr lang="en-US" sz="2400" b="1" dirty="0">
                <a:solidFill>
                  <a:srgbClr val="443728"/>
                </a:solidFill>
                <a:latin typeface="Crimson Pro Bold" pitchFamily="34" charset="0"/>
                <a:ea typeface="Crimson Pro Bold" pitchFamily="34" charset="-122"/>
                <a:cs typeface="Crimson Pro Bold" pitchFamily="34" charset="-120"/>
              </a:rPr>
              <a:t>Adapt for Dyslexia</a:t>
            </a:r>
            <a:endParaRPr lang="en-US" sz="2400" dirty="0"/>
          </a:p>
        </p:txBody>
      </p:sp>
      <p:sp>
        <p:nvSpPr>
          <p:cNvPr id="13" name="Text 7"/>
          <p:cNvSpPr/>
          <p:nvPr/>
        </p:nvSpPr>
        <p:spPr>
          <a:xfrm>
            <a:off x="867898" y="6581664"/>
            <a:ext cx="13296662" cy="127159"/>
          </a:xfrm>
          <a:prstGeom prst="rect">
            <a:avLst/>
          </a:prstGeom>
          <a:noFill/>
          <a:ln/>
        </p:spPr>
        <p:txBody>
          <a:bodyPr wrap="none" lIns="0" tIns="0" rIns="0" bIns="0" rtlCol="0" anchor="t"/>
          <a:lstStyle/>
          <a:p>
            <a:pPr marL="0" indent="0" algn="l">
              <a:lnSpc>
                <a:spcPts val="1000"/>
              </a:lnSpc>
              <a:buNone/>
            </a:pPr>
            <a:r>
              <a:rPr lang="en-US" sz="2000" dirty="0">
                <a:solidFill>
                  <a:srgbClr val="443728"/>
                </a:solidFill>
                <a:latin typeface="Open Sans" pitchFamily="34" charset="0"/>
                <a:ea typeface="Open Sans" pitchFamily="34" charset="-122"/>
                <a:cs typeface="Open Sans" pitchFamily="34" charset="-120"/>
              </a:rPr>
              <a:t>Apply accessible formatting and specialized features for diverse learning needs</a:t>
            </a:r>
            <a:endParaRPr lang="en-US" sz="2000" dirty="0"/>
          </a:p>
        </p:txBody>
      </p:sp>
      <p:pic>
        <p:nvPicPr>
          <p:cNvPr id="14" name="Image 4" descr="preencoded.png"/>
          <p:cNvPicPr>
            <a:picLocks noChangeAspect="1"/>
          </p:cNvPicPr>
          <p:nvPr/>
        </p:nvPicPr>
        <p:blipFill>
          <a:blip r:embed="rId7"/>
          <a:stretch>
            <a:fillRect/>
          </a:stretch>
        </p:blipFill>
        <p:spPr>
          <a:xfrm>
            <a:off x="420663" y="6820324"/>
            <a:ext cx="397669" cy="477322"/>
          </a:xfrm>
          <a:prstGeom prst="rect">
            <a:avLst/>
          </a:prstGeom>
        </p:spPr>
      </p:pic>
      <p:sp>
        <p:nvSpPr>
          <p:cNvPr id="15" name="Text 8"/>
          <p:cNvSpPr/>
          <p:nvPr/>
        </p:nvSpPr>
        <p:spPr>
          <a:xfrm>
            <a:off x="905470" y="6934803"/>
            <a:ext cx="994410" cy="124182"/>
          </a:xfrm>
          <a:prstGeom prst="rect">
            <a:avLst/>
          </a:prstGeom>
          <a:noFill/>
          <a:ln/>
        </p:spPr>
        <p:txBody>
          <a:bodyPr wrap="none" lIns="0" tIns="0" rIns="0" bIns="0" rtlCol="0" anchor="t"/>
          <a:lstStyle/>
          <a:p>
            <a:pPr marL="0" indent="0" algn="l">
              <a:lnSpc>
                <a:spcPts val="950"/>
              </a:lnSpc>
              <a:buNone/>
            </a:pPr>
            <a:r>
              <a:rPr lang="en-US" sz="2400" b="1" dirty="0">
                <a:solidFill>
                  <a:srgbClr val="443728"/>
                </a:solidFill>
                <a:latin typeface="Crimson Pro Bold" pitchFamily="34" charset="0"/>
                <a:ea typeface="Crimson Pro Bold" pitchFamily="34" charset="-122"/>
                <a:cs typeface="Crimson Pro Bold" pitchFamily="34" charset="-120"/>
              </a:rPr>
              <a:t>Generate Outputs</a:t>
            </a:r>
            <a:endParaRPr lang="en-US" sz="2400" dirty="0"/>
          </a:p>
        </p:txBody>
      </p:sp>
      <p:sp>
        <p:nvSpPr>
          <p:cNvPr id="16" name="Text 9"/>
          <p:cNvSpPr/>
          <p:nvPr/>
        </p:nvSpPr>
        <p:spPr>
          <a:xfrm>
            <a:off x="913072" y="7177445"/>
            <a:ext cx="13296662" cy="127159"/>
          </a:xfrm>
          <a:prstGeom prst="rect">
            <a:avLst/>
          </a:prstGeom>
          <a:noFill/>
          <a:ln/>
        </p:spPr>
        <p:txBody>
          <a:bodyPr wrap="none" lIns="0" tIns="0" rIns="0" bIns="0" rtlCol="0" anchor="t"/>
          <a:lstStyle/>
          <a:p>
            <a:pPr marL="0" indent="0" algn="l">
              <a:lnSpc>
                <a:spcPts val="1000"/>
              </a:lnSpc>
              <a:buNone/>
            </a:pPr>
            <a:r>
              <a:rPr lang="en-US" sz="2000" dirty="0">
                <a:solidFill>
                  <a:srgbClr val="443728"/>
                </a:solidFill>
                <a:latin typeface="Open Sans" pitchFamily="34" charset="0"/>
                <a:ea typeface="Open Sans" pitchFamily="34" charset="-122"/>
                <a:cs typeface="Open Sans" pitchFamily="34" charset="-120"/>
              </a:rPr>
              <a:t>Create modules, audio content, and gamified learning experiences</a:t>
            </a:r>
            <a:endParaRPr lang="en-US" sz="2000" dirty="0"/>
          </a:p>
        </p:txBody>
      </p:sp>
      <p:pic>
        <p:nvPicPr>
          <p:cNvPr id="17" name="Image 5" descr="preencoded.png"/>
          <p:cNvPicPr>
            <a:picLocks noChangeAspect="1"/>
          </p:cNvPicPr>
          <p:nvPr/>
        </p:nvPicPr>
        <p:blipFill>
          <a:blip r:embed="rId8"/>
          <a:stretch>
            <a:fillRect/>
          </a:stretch>
        </p:blipFill>
        <p:spPr>
          <a:xfrm>
            <a:off x="428268" y="7403425"/>
            <a:ext cx="397669" cy="477322"/>
          </a:xfrm>
          <a:prstGeom prst="rect">
            <a:avLst/>
          </a:prstGeom>
        </p:spPr>
      </p:pic>
      <p:sp>
        <p:nvSpPr>
          <p:cNvPr id="18" name="Text 10"/>
          <p:cNvSpPr/>
          <p:nvPr/>
        </p:nvSpPr>
        <p:spPr>
          <a:xfrm>
            <a:off x="905470" y="7482959"/>
            <a:ext cx="994410" cy="124182"/>
          </a:xfrm>
          <a:prstGeom prst="rect">
            <a:avLst/>
          </a:prstGeom>
          <a:noFill/>
          <a:ln/>
        </p:spPr>
        <p:txBody>
          <a:bodyPr wrap="none" lIns="0" tIns="0" rIns="0" bIns="0" rtlCol="0" anchor="t"/>
          <a:lstStyle/>
          <a:p>
            <a:pPr marL="0" indent="0" algn="l">
              <a:lnSpc>
                <a:spcPts val="950"/>
              </a:lnSpc>
              <a:buNone/>
            </a:pPr>
            <a:r>
              <a:rPr lang="en-US" sz="2400" b="1" dirty="0">
                <a:solidFill>
                  <a:srgbClr val="443728"/>
                </a:solidFill>
                <a:latin typeface="Crimson Pro Bold" pitchFamily="34" charset="0"/>
                <a:ea typeface="Crimson Pro Bold" pitchFamily="34" charset="-122"/>
                <a:cs typeface="Crimson Pro Bold" pitchFamily="34" charset="-120"/>
              </a:rPr>
              <a:t>Deliver to User</a:t>
            </a:r>
            <a:endParaRPr lang="en-US" sz="2400" dirty="0"/>
          </a:p>
        </p:txBody>
      </p:sp>
      <p:sp>
        <p:nvSpPr>
          <p:cNvPr id="19" name="Text 11"/>
          <p:cNvSpPr/>
          <p:nvPr/>
        </p:nvSpPr>
        <p:spPr>
          <a:xfrm>
            <a:off x="913072" y="7753588"/>
            <a:ext cx="13296662" cy="127159"/>
          </a:xfrm>
          <a:prstGeom prst="rect">
            <a:avLst/>
          </a:prstGeom>
          <a:noFill/>
          <a:ln/>
        </p:spPr>
        <p:txBody>
          <a:bodyPr wrap="none" lIns="0" tIns="0" rIns="0" bIns="0" rtlCol="0" anchor="t"/>
          <a:lstStyle/>
          <a:p>
            <a:pPr marL="0" indent="0" algn="l">
              <a:lnSpc>
                <a:spcPts val="1000"/>
              </a:lnSpc>
              <a:buNone/>
            </a:pPr>
            <a:r>
              <a:rPr lang="en-US" sz="2000" dirty="0">
                <a:solidFill>
                  <a:srgbClr val="443728"/>
                </a:solidFill>
                <a:latin typeface="Open Sans" pitchFamily="34" charset="0"/>
                <a:ea typeface="Open Sans" pitchFamily="34" charset="-122"/>
                <a:cs typeface="Open Sans" pitchFamily="34" charset="-120"/>
              </a:rPr>
              <a:t>Provide interactive learning experiences tailored to individual preferences</a:t>
            </a:r>
            <a:endParaRPr lang="en-US" sz="2000" dirty="0"/>
          </a:p>
        </p:txBody>
      </p:sp>
      <p:sp>
        <p:nvSpPr>
          <p:cNvPr id="20" name="TextBox 19">
            <a:extLst>
              <a:ext uri="{FF2B5EF4-FFF2-40B4-BE49-F238E27FC236}">
                <a16:creationId xmlns:a16="http://schemas.microsoft.com/office/drawing/2014/main" id="{0616644F-CE77-5C08-A114-048E8F042E6E}"/>
              </a:ext>
            </a:extLst>
          </p:cNvPr>
          <p:cNvSpPr txBox="1"/>
          <p:nvPr/>
        </p:nvSpPr>
        <p:spPr>
          <a:xfrm>
            <a:off x="12446598" y="7584141"/>
            <a:ext cx="2183802" cy="645459"/>
          </a:xfrm>
          <a:prstGeom prst="rect">
            <a:avLst/>
          </a:prstGeom>
          <a:solidFill>
            <a:srgbClr val="FFFCFA"/>
          </a:solidFill>
        </p:spPr>
        <p:txBody>
          <a:bodyPr wrap="square" rtlCol="0">
            <a:spAutoFit/>
          </a:bodyPr>
          <a:lstStyle/>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96791"/>
            <a:ext cx="13042821" cy="308372"/>
          </a:xfrm>
          <a:prstGeom prst="rect">
            <a:avLst/>
          </a:prstGeom>
          <a:noFill/>
          <a:ln/>
        </p:spPr>
        <p:txBody>
          <a:bodyPr wrap="none" lIns="0" tIns="0" rIns="0" bIns="0" rtlCol="0" anchor="t"/>
          <a:lstStyle/>
          <a:p>
            <a:pPr marL="0" indent="0" algn="l">
              <a:lnSpc>
                <a:spcPts val="2400"/>
              </a:lnSpc>
              <a:buNone/>
            </a:pPr>
            <a:r>
              <a:rPr lang="en-US" sz="1500" b="1" dirty="0">
                <a:solidFill>
                  <a:srgbClr val="835E54"/>
                </a:solidFill>
                <a:latin typeface="Open Sans" pitchFamily="34" charset="0"/>
                <a:ea typeface="Open Sans" pitchFamily="34" charset="-122"/>
                <a:cs typeface="Open Sans" pitchFamily="34" charset="-120"/>
              </a:rPr>
              <a:t>Key Features &amp; Innovation</a:t>
            </a:r>
            <a:endParaRPr lang="en-US" sz="1500" dirty="0"/>
          </a:p>
        </p:txBody>
      </p:sp>
      <p:sp>
        <p:nvSpPr>
          <p:cNvPr id="3" name="Text 1"/>
          <p:cNvSpPr/>
          <p:nvPr/>
        </p:nvSpPr>
        <p:spPr>
          <a:xfrm>
            <a:off x="793790" y="1497925"/>
            <a:ext cx="7447478" cy="602456"/>
          </a:xfrm>
          <a:prstGeom prst="rect">
            <a:avLst/>
          </a:prstGeom>
          <a:noFill/>
          <a:ln/>
        </p:spPr>
        <p:txBody>
          <a:bodyPr wrap="none" lIns="0" tIns="0" rIns="0" bIns="0" rtlCol="0" anchor="t"/>
          <a:lstStyle/>
          <a:p>
            <a:pPr marL="0" indent="0" algn="l">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Redefining Educational Accessibility</a:t>
            </a:r>
            <a:endParaRPr lang="en-US" sz="3750" dirty="0"/>
          </a:p>
        </p:txBody>
      </p:sp>
      <p:pic>
        <p:nvPicPr>
          <p:cNvPr id="4" name="Image 0" descr="preencoded.png"/>
          <p:cNvPicPr>
            <a:picLocks noChangeAspect="1"/>
          </p:cNvPicPr>
          <p:nvPr/>
        </p:nvPicPr>
        <p:blipFill>
          <a:blip r:embed="rId3"/>
          <a:stretch>
            <a:fillRect/>
          </a:stretch>
        </p:blipFill>
        <p:spPr>
          <a:xfrm>
            <a:off x="793790" y="2389584"/>
            <a:ext cx="578406" cy="578406"/>
          </a:xfrm>
          <a:prstGeom prst="rect">
            <a:avLst/>
          </a:prstGeom>
        </p:spPr>
      </p:pic>
      <p:sp>
        <p:nvSpPr>
          <p:cNvPr id="5" name="Text 2"/>
          <p:cNvSpPr/>
          <p:nvPr/>
        </p:nvSpPr>
        <p:spPr>
          <a:xfrm>
            <a:off x="793790" y="3208973"/>
            <a:ext cx="2877979" cy="301228"/>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AI-Powered Transformation</a:t>
            </a:r>
            <a:endParaRPr lang="en-US" sz="1850" dirty="0"/>
          </a:p>
        </p:txBody>
      </p:sp>
      <p:sp>
        <p:nvSpPr>
          <p:cNvPr id="6" name="Text 3"/>
          <p:cNvSpPr/>
          <p:nvPr/>
        </p:nvSpPr>
        <p:spPr>
          <a:xfrm>
            <a:off x="793790" y="3625810"/>
            <a:ext cx="4186952" cy="1233487"/>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Automated conversion of PDFs to diverse formats: audiobooks, simplified summaries, and real-time translations for global accessibility.</a:t>
            </a:r>
            <a:endParaRPr lang="en-US" sz="1500" dirty="0"/>
          </a:p>
        </p:txBody>
      </p:sp>
      <p:pic>
        <p:nvPicPr>
          <p:cNvPr id="7" name="Image 1" descr="preencoded.png"/>
          <p:cNvPicPr>
            <a:picLocks noChangeAspect="1"/>
          </p:cNvPicPr>
          <p:nvPr/>
        </p:nvPicPr>
        <p:blipFill>
          <a:blip r:embed="rId4"/>
          <a:stretch>
            <a:fillRect/>
          </a:stretch>
        </p:blipFill>
        <p:spPr>
          <a:xfrm>
            <a:off x="5221724" y="2389584"/>
            <a:ext cx="578406" cy="578406"/>
          </a:xfrm>
          <a:prstGeom prst="rect">
            <a:avLst/>
          </a:prstGeom>
        </p:spPr>
      </p:pic>
      <p:sp>
        <p:nvSpPr>
          <p:cNvPr id="8" name="Text 4"/>
          <p:cNvSpPr/>
          <p:nvPr/>
        </p:nvSpPr>
        <p:spPr>
          <a:xfrm>
            <a:off x="5221724" y="3208973"/>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Multilingual Support</a:t>
            </a:r>
            <a:endParaRPr lang="en-US" sz="1850" dirty="0"/>
          </a:p>
        </p:txBody>
      </p:sp>
      <p:sp>
        <p:nvSpPr>
          <p:cNvPr id="9" name="Text 5"/>
          <p:cNvSpPr/>
          <p:nvPr/>
        </p:nvSpPr>
        <p:spPr>
          <a:xfrm>
            <a:off x="5221724" y="3625810"/>
            <a:ext cx="4186952" cy="925116"/>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Instant translation into different languages, breaking down language barriers and making education accessible to learners globally.</a:t>
            </a:r>
            <a:endParaRPr lang="en-US" sz="1500" dirty="0"/>
          </a:p>
        </p:txBody>
      </p:sp>
      <p:pic>
        <p:nvPicPr>
          <p:cNvPr id="10" name="Image 2" descr="preencoded.png"/>
          <p:cNvPicPr>
            <a:picLocks noChangeAspect="1"/>
          </p:cNvPicPr>
          <p:nvPr/>
        </p:nvPicPr>
        <p:blipFill>
          <a:blip r:embed="rId5"/>
          <a:stretch>
            <a:fillRect/>
          </a:stretch>
        </p:blipFill>
        <p:spPr>
          <a:xfrm>
            <a:off x="9649658" y="2389584"/>
            <a:ext cx="578406" cy="578406"/>
          </a:xfrm>
          <a:prstGeom prst="rect">
            <a:avLst/>
          </a:prstGeom>
        </p:spPr>
      </p:pic>
      <p:sp>
        <p:nvSpPr>
          <p:cNvPr id="11" name="Text 6"/>
          <p:cNvSpPr/>
          <p:nvPr/>
        </p:nvSpPr>
        <p:spPr>
          <a:xfrm>
            <a:off x="9649658" y="3208973"/>
            <a:ext cx="2894648" cy="301228"/>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Personalized Learning Paths</a:t>
            </a:r>
            <a:endParaRPr lang="en-US" sz="1850" dirty="0"/>
          </a:p>
        </p:txBody>
      </p:sp>
      <p:sp>
        <p:nvSpPr>
          <p:cNvPr id="12" name="Text 7"/>
          <p:cNvSpPr/>
          <p:nvPr/>
        </p:nvSpPr>
        <p:spPr>
          <a:xfrm>
            <a:off x="9649658" y="3625810"/>
            <a:ext cx="4186952" cy="925116"/>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Adaptive content delivery based on individual student needs, preferences, and learning styles for maximum engagement.</a:t>
            </a:r>
            <a:endParaRPr lang="en-US" sz="1500" dirty="0"/>
          </a:p>
        </p:txBody>
      </p:sp>
      <p:pic>
        <p:nvPicPr>
          <p:cNvPr id="13" name="Image 3" descr="preencoded.png"/>
          <p:cNvPicPr>
            <a:picLocks noChangeAspect="1"/>
          </p:cNvPicPr>
          <p:nvPr/>
        </p:nvPicPr>
        <p:blipFill>
          <a:blip r:embed="rId6"/>
          <a:stretch>
            <a:fillRect/>
          </a:stretch>
        </p:blipFill>
        <p:spPr>
          <a:xfrm>
            <a:off x="793790" y="5244822"/>
            <a:ext cx="578406" cy="578406"/>
          </a:xfrm>
          <a:prstGeom prst="rect">
            <a:avLst/>
          </a:prstGeom>
        </p:spPr>
      </p:pic>
      <p:sp>
        <p:nvSpPr>
          <p:cNvPr id="14" name="Text 8"/>
          <p:cNvSpPr/>
          <p:nvPr/>
        </p:nvSpPr>
        <p:spPr>
          <a:xfrm>
            <a:off x="793790" y="6064210"/>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Educator Dashboard</a:t>
            </a:r>
            <a:endParaRPr lang="en-US" sz="1850" dirty="0"/>
          </a:p>
        </p:txBody>
      </p:sp>
      <p:sp>
        <p:nvSpPr>
          <p:cNvPr id="15" name="Text 9"/>
          <p:cNvSpPr/>
          <p:nvPr/>
        </p:nvSpPr>
        <p:spPr>
          <a:xfrm>
            <a:off x="793790" y="6481048"/>
            <a:ext cx="4186952" cy="925116"/>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Comprehensive tools for teachers to customize content, track student progress, and monitor accessibility metrics effectively.</a:t>
            </a:r>
            <a:endParaRPr lang="en-US" sz="1500" dirty="0"/>
          </a:p>
        </p:txBody>
      </p:sp>
      <p:pic>
        <p:nvPicPr>
          <p:cNvPr id="16" name="Image 4" descr="preencoded.png"/>
          <p:cNvPicPr>
            <a:picLocks noChangeAspect="1"/>
          </p:cNvPicPr>
          <p:nvPr/>
        </p:nvPicPr>
        <p:blipFill>
          <a:blip r:embed="rId7"/>
          <a:stretch>
            <a:fillRect/>
          </a:stretch>
        </p:blipFill>
        <p:spPr>
          <a:xfrm>
            <a:off x="5221724" y="5244822"/>
            <a:ext cx="578406" cy="578406"/>
          </a:xfrm>
          <a:prstGeom prst="rect">
            <a:avLst/>
          </a:prstGeom>
        </p:spPr>
      </p:pic>
      <p:sp>
        <p:nvSpPr>
          <p:cNvPr id="17" name="Text 10"/>
          <p:cNvSpPr/>
          <p:nvPr/>
        </p:nvSpPr>
        <p:spPr>
          <a:xfrm>
            <a:off x="5221724" y="6064210"/>
            <a:ext cx="2790230" cy="301228"/>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Dyslexia-Friendly Interface</a:t>
            </a:r>
            <a:endParaRPr lang="en-US" sz="1850" dirty="0"/>
          </a:p>
        </p:txBody>
      </p:sp>
      <p:sp>
        <p:nvSpPr>
          <p:cNvPr id="18" name="Text 11"/>
          <p:cNvSpPr/>
          <p:nvPr/>
        </p:nvSpPr>
        <p:spPr>
          <a:xfrm>
            <a:off x="5221724" y="6481048"/>
            <a:ext cx="4186952" cy="925116"/>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Customizable fonts, line spacing, color overlays, and synchronized highlighting designed specifically for improved readability.</a:t>
            </a:r>
            <a:endParaRPr lang="en-US" sz="1500" dirty="0"/>
          </a:p>
        </p:txBody>
      </p:sp>
      <p:sp>
        <p:nvSpPr>
          <p:cNvPr id="19" name="TextBox 18">
            <a:extLst>
              <a:ext uri="{FF2B5EF4-FFF2-40B4-BE49-F238E27FC236}">
                <a16:creationId xmlns:a16="http://schemas.microsoft.com/office/drawing/2014/main" id="{7385B8E5-BBE6-6891-8121-208CEDDE0C87}"/>
              </a:ext>
            </a:extLst>
          </p:cNvPr>
          <p:cNvSpPr txBox="1"/>
          <p:nvPr/>
        </p:nvSpPr>
        <p:spPr>
          <a:xfrm>
            <a:off x="12446598" y="7584141"/>
            <a:ext cx="2183802" cy="645459"/>
          </a:xfrm>
          <a:prstGeom prst="rect">
            <a:avLst/>
          </a:prstGeom>
          <a:solidFill>
            <a:srgbClr val="FFFCFA"/>
          </a:solidFill>
        </p:spPr>
        <p:txBody>
          <a:bodyPr wrap="square" rtlCol="0">
            <a:spAutoFit/>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26306"/>
            <a:ext cx="7556421" cy="290274"/>
          </a:xfrm>
          <a:prstGeom prst="rect">
            <a:avLst/>
          </a:prstGeom>
          <a:noFill/>
          <a:ln/>
        </p:spPr>
        <p:txBody>
          <a:bodyPr wrap="none" lIns="0" tIns="0" rIns="0" bIns="0" rtlCol="0" anchor="t"/>
          <a:lstStyle/>
          <a:p>
            <a:pPr marL="0" indent="0" algn="l">
              <a:lnSpc>
                <a:spcPts val="2250"/>
              </a:lnSpc>
              <a:buNone/>
            </a:pPr>
            <a:r>
              <a:rPr lang="en-US" sz="1400" b="1" dirty="0">
                <a:solidFill>
                  <a:srgbClr val="835E54"/>
                </a:solidFill>
                <a:latin typeface="Open Sans" pitchFamily="34" charset="0"/>
                <a:ea typeface="Open Sans" pitchFamily="34" charset="-122"/>
                <a:cs typeface="Open Sans" pitchFamily="34" charset="-120"/>
              </a:rPr>
              <a:t>Implementation Plan</a:t>
            </a:r>
            <a:endParaRPr lang="en-US" sz="1400" dirty="0"/>
          </a:p>
        </p:txBody>
      </p:sp>
      <p:sp>
        <p:nvSpPr>
          <p:cNvPr id="4" name="Text 1"/>
          <p:cNvSpPr/>
          <p:nvPr/>
        </p:nvSpPr>
        <p:spPr>
          <a:xfrm>
            <a:off x="793790" y="1398032"/>
            <a:ext cx="7016591" cy="566976"/>
          </a:xfrm>
          <a:prstGeom prst="rect">
            <a:avLst/>
          </a:prstGeom>
          <a:noFill/>
          <a:ln/>
        </p:spPr>
        <p:txBody>
          <a:bodyPr wrap="none" lIns="0" tIns="0" rIns="0" bIns="0" rtlCol="0" anchor="t"/>
          <a:lstStyle/>
          <a:p>
            <a:pPr marL="0" indent="0" algn="l">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Our Roadmap to Launch and Beyond</a:t>
            </a:r>
            <a:endParaRPr lang="en-US" sz="3550" dirty="0"/>
          </a:p>
        </p:txBody>
      </p:sp>
      <p:sp>
        <p:nvSpPr>
          <p:cNvPr id="5" name="Shape 2"/>
          <p:cNvSpPr/>
          <p:nvPr/>
        </p:nvSpPr>
        <p:spPr>
          <a:xfrm>
            <a:off x="997863" y="2237184"/>
            <a:ext cx="22860" cy="5229225"/>
          </a:xfrm>
          <a:prstGeom prst="roundRect">
            <a:avLst>
              <a:gd name="adj" fmla="val 333395"/>
            </a:avLst>
          </a:prstGeom>
          <a:solidFill>
            <a:srgbClr val="D1C8C6"/>
          </a:solidFill>
          <a:ln/>
        </p:spPr>
      </p:sp>
      <p:sp>
        <p:nvSpPr>
          <p:cNvPr id="6" name="Shape 3"/>
          <p:cNvSpPr/>
          <p:nvPr/>
        </p:nvSpPr>
        <p:spPr>
          <a:xfrm>
            <a:off x="1179135" y="2429828"/>
            <a:ext cx="544354" cy="22860"/>
          </a:xfrm>
          <a:prstGeom prst="roundRect">
            <a:avLst>
              <a:gd name="adj" fmla="val 333395"/>
            </a:avLst>
          </a:prstGeom>
          <a:solidFill>
            <a:srgbClr val="D1C8C6"/>
          </a:solidFill>
          <a:ln/>
        </p:spPr>
      </p:sp>
      <p:sp>
        <p:nvSpPr>
          <p:cNvPr id="7" name="Shape 4"/>
          <p:cNvSpPr/>
          <p:nvPr/>
        </p:nvSpPr>
        <p:spPr>
          <a:xfrm>
            <a:off x="793730" y="2237184"/>
            <a:ext cx="408265" cy="408265"/>
          </a:xfrm>
          <a:prstGeom prst="roundRect">
            <a:avLst>
              <a:gd name="adj" fmla="val 18668"/>
            </a:avLst>
          </a:prstGeom>
          <a:solidFill>
            <a:srgbClr val="EBE2E0"/>
          </a:solidFill>
          <a:ln w="7620">
            <a:solidFill>
              <a:srgbClr val="D1C8C6"/>
            </a:solidFill>
            <a:prstDash val="solid"/>
          </a:ln>
        </p:spPr>
      </p:sp>
      <p:sp>
        <p:nvSpPr>
          <p:cNvPr id="8" name="Text 5"/>
          <p:cNvSpPr/>
          <p:nvPr/>
        </p:nvSpPr>
        <p:spPr>
          <a:xfrm>
            <a:off x="861715" y="2271177"/>
            <a:ext cx="272177" cy="340162"/>
          </a:xfrm>
          <a:prstGeom prst="rect">
            <a:avLst/>
          </a:prstGeom>
          <a:noFill/>
          <a:ln/>
        </p:spPr>
        <p:txBody>
          <a:bodyPr wrap="none" lIns="0" tIns="0" rIns="0" bIns="0" rtlCol="0" anchor="t"/>
          <a:lstStyle/>
          <a:p>
            <a:pPr marL="0" indent="0" algn="ctr">
              <a:lnSpc>
                <a:spcPts val="2100"/>
              </a:lnSpc>
              <a:buNone/>
            </a:pPr>
            <a:r>
              <a:rPr lang="en-US" sz="2100" b="1" dirty="0">
                <a:solidFill>
                  <a:srgbClr val="443728"/>
                </a:solidFill>
                <a:latin typeface="Crimson Pro Bold" pitchFamily="34" charset="0"/>
                <a:ea typeface="Crimson Pro Bold" pitchFamily="34" charset="-122"/>
                <a:cs typeface="Crimson Pro Bold" pitchFamily="34" charset="-120"/>
              </a:rPr>
              <a:t>1</a:t>
            </a:r>
            <a:endParaRPr lang="en-US" sz="2100" dirty="0"/>
          </a:p>
        </p:txBody>
      </p:sp>
      <p:sp>
        <p:nvSpPr>
          <p:cNvPr id="9" name="Text 6"/>
          <p:cNvSpPr/>
          <p:nvPr/>
        </p:nvSpPr>
        <p:spPr>
          <a:xfrm>
            <a:off x="1905238" y="2299454"/>
            <a:ext cx="3789640"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Phase 1: Concept &amp; Prototype (Q1 2024)</a:t>
            </a:r>
            <a:endParaRPr lang="en-US" sz="1750" dirty="0"/>
          </a:p>
        </p:txBody>
      </p:sp>
      <p:sp>
        <p:nvSpPr>
          <p:cNvPr id="10" name="Text 7"/>
          <p:cNvSpPr/>
          <p:nvPr/>
        </p:nvSpPr>
        <p:spPr>
          <a:xfrm>
            <a:off x="1905238" y="2691765"/>
            <a:ext cx="6444972"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latin typeface="Open Sans" pitchFamily="34" charset="0"/>
                <a:ea typeface="Open Sans" pitchFamily="34" charset="-122"/>
                <a:cs typeface="Open Sans" pitchFamily="34" charset="-120"/>
              </a:rPr>
              <a:t>Develop core AI conversion engine, build basic UI, and conduct initial user testing with educators and learning specialists.</a:t>
            </a:r>
            <a:endParaRPr lang="en-US" sz="1400" dirty="0"/>
          </a:p>
        </p:txBody>
      </p:sp>
      <p:sp>
        <p:nvSpPr>
          <p:cNvPr id="11" name="Shape 8"/>
          <p:cNvSpPr/>
          <p:nvPr/>
        </p:nvSpPr>
        <p:spPr>
          <a:xfrm>
            <a:off x="1179135" y="3827859"/>
            <a:ext cx="544354" cy="22860"/>
          </a:xfrm>
          <a:prstGeom prst="roundRect">
            <a:avLst>
              <a:gd name="adj" fmla="val 333395"/>
            </a:avLst>
          </a:prstGeom>
          <a:solidFill>
            <a:srgbClr val="D1C8C6"/>
          </a:solidFill>
          <a:ln/>
        </p:spPr>
      </p:sp>
      <p:sp>
        <p:nvSpPr>
          <p:cNvPr id="12" name="Shape 9"/>
          <p:cNvSpPr/>
          <p:nvPr/>
        </p:nvSpPr>
        <p:spPr>
          <a:xfrm>
            <a:off x="793730" y="3635216"/>
            <a:ext cx="408265" cy="408265"/>
          </a:xfrm>
          <a:prstGeom prst="roundRect">
            <a:avLst>
              <a:gd name="adj" fmla="val 18668"/>
            </a:avLst>
          </a:prstGeom>
          <a:solidFill>
            <a:srgbClr val="EBE2E0"/>
          </a:solidFill>
          <a:ln w="7620">
            <a:solidFill>
              <a:srgbClr val="D1C8C6"/>
            </a:solidFill>
            <a:prstDash val="solid"/>
          </a:ln>
        </p:spPr>
      </p:sp>
      <p:sp>
        <p:nvSpPr>
          <p:cNvPr id="13" name="Text 10"/>
          <p:cNvSpPr/>
          <p:nvPr/>
        </p:nvSpPr>
        <p:spPr>
          <a:xfrm>
            <a:off x="861715" y="3669209"/>
            <a:ext cx="272177" cy="340162"/>
          </a:xfrm>
          <a:prstGeom prst="rect">
            <a:avLst/>
          </a:prstGeom>
          <a:noFill/>
          <a:ln/>
        </p:spPr>
        <p:txBody>
          <a:bodyPr wrap="none" lIns="0" tIns="0" rIns="0" bIns="0" rtlCol="0" anchor="t"/>
          <a:lstStyle/>
          <a:p>
            <a:pPr marL="0" indent="0" algn="ctr">
              <a:lnSpc>
                <a:spcPts val="2100"/>
              </a:lnSpc>
              <a:buNone/>
            </a:pPr>
            <a:r>
              <a:rPr lang="en-US" sz="2100" b="1" dirty="0">
                <a:solidFill>
                  <a:srgbClr val="443728"/>
                </a:solidFill>
                <a:latin typeface="Crimson Pro Bold" pitchFamily="34" charset="0"/>
                <a:ea typeface="Crimson Pro Bold" pitchFamily="34" charset="-122"/>
                <a:cs typeface="Crimson Pro Bold" pitchFamily="34" charset="-120"/>
              </a:rPr>
              <a:t>2</a:t>
            </a:r>
            <a:endParaRPr lang="en-US" sz="2100" dirty="0"/>
          </a:p>
        </p:txBody>
      </p:sp>
      <p:sp>
        <p:nvSpPr>
          <p:cNvPr id="14" name="Text 11"/>
          <p:cNvSpPr/>
          <p:nvPr/>
        </p:nvSpPr>
        <p:spPr>
          <a:xfrm>
            <a:off x="1905238" y="3697486"/>
            <a:ext cx="5568077"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Phase 2: Alpha Testing &amp; Feature Expansion (Q2-Q3 2024)</a:t>
            </a:r>
            <a:endParaRPr lang="en-US" sz="1750" dirty="0"/>
          </a:p>
        </p:txBody>
      </p:sp>
      <p:sp>
        <p:nvSpPr>
          <p:cNvPr id="15" name="Text 12"/>
          <p:cNvSpPr/>
          <p:nvPr/>
        </p:nvSpPr>
        <p:spPr>
          <a:xfrm>
            <a:off x="1905238" y="4089797"/>
            <a:ext cx="6444972"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latin typeface="Open Sans" pitchFamily="34" charset="0"/>
                <a:ea typeface="Open Sans" pitchFamily="34" charset="-122"/>
                <a:cs typeface="Open Sans" pitchFamily="34" charset="-120"/>
              </a:rPr>
              <a:t>Integrate dyslexia-friendly features, gamification elements, and multilingual support. Expand testing to select schools and gather feedback.</a:t>
            </a:r>
            <a:endParaRPr lang="en-US" sz="1400" dirty="0"/>
          </a:p>
        </p:txBody>
      </p:sp>
      <p:sp>
        <p:nvSpPr>
          <p:cNvPr id="16" name="Shape 13"/>
          <p:cNvSpPr/>
          <p:nvPr/>
        </p:nvSpPr>
        <p:spPr>
          <a:xfrm>
            <a:off x="1179135" y="5225891"/>
            <a:ext cx="544354" cy="22860"/>
          </a:xfrm>
          <a:prstGeom prst="roundRect">
            <a:avLst>
              <a:gd name="adj" fmla="val 333395"/>
            </a:avLst>
          </a:prstGeom>
          <a:solidFill>
            <a:srgbClr val="D1C8C6"/>
          </a:solidFill>
          <a:ln/>
        </p:spPr>
      </p:sp>
      <p:sp>
        <p:nvSpPr>
          <p:cNvPr id="17" name="Shape 14"/>
          <p:cNvSpPr/>
          <p:nvPr/>
        </p:nvSpPr>
        <p:spPr>
          <a:xfrm>
            <a:off x="793730" y="5033248"/>
            <a:ext cx="408265" cy="408265"/>
          </a:xfrm>
          <a:prstGeom prst="roundRect">
            <a:avLst>
              <a:gd name="adj" fmla="val 18668"/>
            </a:avLst>
          </a:prstGeom>
          <a:solidFill>
            <a:srgbClr val="EBE2E0"/>
          </a:solidFill>
          <a:ln w="7620">
            <a:solidFill>
              <a:srgbClr val="D1C8C6"/>
            </a:solidFill>
            <a:prstDash val="solid"/>
          </a:ln>
        </p:spPr>
      </p:sp>
      <p:sp>
        <p:nvSpPr>
          <p:cNvPr id="18" name="Text 15"/>
          <p:cNvSpPr/>
          <p:nvPr/>
        </p:nvSpPr>
        <p:spPr>
          <a:xfrm>
            <a:off x="861715" y="5067240"/>
            <a:ext cx="272177" cy="340162"/>
          </a:xfrm>
          <a:prstGeom prst="rect">
            <a:avLst/>
          </a:prstGeom>
          <a:noFill/>
          <a:ln/>
        </p:spPr>
        <p:txBody>
          <a:bodyPr wrap="none" lIns="0" tIns="0" rIns="0" bIns="0" rtlCol="0" anchor="t"/>
          <a:lstStyle/>
          <a:p>
            <a:pPr marL="0" indent="0" algn="ctr">
              <a:lnSpc>
                <a:spcPts val="2100"/>
              </a:lnSpc>
              <a:buNone/>
            </a:pPr>
            <a:r>
              <a:rPr lang="en-US" sz="2100" b="1" dirty="0">
                <a:solidFill>
                  <a:srgbClr val="443728"/>
                </a:solidFill>
                <a:latin typeface="Crimson Pro Bold" pitchFamily="34" charset="0"/>
                <a:ea typeface="Crimson Pro Bold" pitchFamily="34" charset="-122"/>
                <a:cs typeface="Crimson Pro Bold" pitchFamily="34" charset="-120"/>
              </a:rPr>
              <a:t>3</a:t>
            </a:r>
            <a:endParaRPr lang="en-US" sz="2100" dirty="0"/>
          </a:p>
        </p:txBody>
      </p:sp>
      <p:sp>
        <p:nvSpPr>
          <p:cNvPr id="19" name="Text 16"/>
          <p:cNvSpPr/>
          <p:nvPr/>
        </p:nvSpPr>
        <p:spPr>
          <a:xfrm>
            <a:off x="1905238" y="5095518"/>
            <a:ext cx="4729401"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Phase 3: Beta Launch &amp; Pilot Programs (Q4 2024)</a:t>
            </a:r>
            <a:endParaRPr lang="en-US" sz="1750" dirty="0"/>
          </a:p>
        </p:txBody>
      </p:sp>
      <p:sp>
        <p:nvSpPr>
          <p:cNvPr id="20" name="Text 17"/>
          <p:cNvSpPr/>
          <p:nvPr/>
        </p:nvSpPr>
        <p:spPr>
          <a:xfrm>
            <a:off x="1905238" y="5487829"/>
            <a:ext cx="6444972"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latin typeface="Open Sans" pitchFamily="34" charset="0"/>
                <a:ea typeface="Open Sans" pitchFamily="34" charset="-122"/>
                <a:cs typeface="Open Sans" pitchFamily="34" charset="-120"/>
              </a:rPr>
              <a:t>Full platform launch for pilot schools and early adopters. Gather extensive feedback for refinement and optimization.</a:t>
            </a:r>
            <a:endParaRPr lang="en-US" sz="1400" dirty="0"/>
          </a:p>
        </p:txBody>
      </p:sp>
      <p:sp>
        <p:nvSpPr>
          <p:cNvPr id="21" name="Shape 18"/>
          <p:cNvSpPr/>
          <p:nvPr/>
        </p:nvSpPr>
        <p:spPr>
          <a:xfrm>
            <a:off x="1179135" y="6623923"/>
            <a:ext cx="544354" cy="22860"/>
          </a:xfrm>
          <a:prstGeom prst="roundRect">
            <a:avLst>
              <a:gd name="adj" fmla="val 333395"/>
            </a:avLst>
          </a:prstGeom>
          <a:solidFill>
            <a:srgbClr val="D1C8C6"/>
          </a:solidFill>
          <a:ln/>
        </p:spPr>
      </p:sp>
      <p:sp>
        <p:nvSpPr>
          <p:cNvPr id="22" name="Shape 19"/>
          <p:cNvSpPr/>
          <p:nvPr/>
        </p:nvSpPr>
        <p:spPr>
          <a:xfrm>
            <a:off x="793730" y="6431280"/>
            <a:ext cx="408265" cy="408265"/>
          </a:xfrm>
          <a:prstGeom prst="roundRect">
            <a:avLst>
              <a:gd name="adj" fmla="val 18668"/>
            </a:avLst>
          </a:prstGeom>
          <a:solidFill>
            <a:srgbClr val="EBE2E0"/>
          </a:solidFill>
          <a:ln w="7620">
            <a:solidFill>
              <a:srgbClr val="D1C8C6"/>
            </a:solidFill>
            <a:prstDash val="solid"/>
          </a:ln>
        </p:spPr>
      </p:sp>
      <p:sp>
        <p:nvSpPr>
          <p:cNvPr id="23" name="Text 20"/>
          <p:cNvSpPr/>
          <p:nvPr/>
        </p:nvSpPr>
        <p:spPr>
          <a:xfrm>
            <a:off x="861715" y="6465272"/>
            <a:ext cx="272177" cy="340162"/>
          </a:xfrm>
          <a:prstGeom prst="rect">
            <a:avLst/>
          </a:prstGeom>
          <a:noFill/>
          <a:ln/>
        </p:spPr>
        <p:txBody>
          <a:bodyPr wrap="none" lIns="0" tIns="0" rIns="0" bIns="0" rtlCol="0" anchor="t"/>
          <a:lstStyle/>
          <a:p>
            <a:pPr marL="0" indent="0" algn="ctr">
              <a:lnSpc>
                <a:spcPts val="2100"/>
              </a:lnSpc>
              <a:buNone/>
            </a:pPr>
            <a:r>
              <a:rPr lang="en-US" sz="2100" b="1" dirty="0">
                <a:solidFill>
                  <a:srgbClr val="443728"/>
                </a:solidFill>
                <a:latin typeface="Crimson Pro Bold" pitchFamily="34" charset="0"/>
                <a:ea typeface="Crimson Pro Bold" pitchFamily="34" charset="-122"/>
                <a:cs typeface="Crimson Pro Bold" pitchFamily="34" charset="-120"/>
              </a:rPr>
              <a:t>4</a:t>
            </a:r>
            <a:endParaRPr lang="en-US" sz="2100" dirty="0"/>
          </a:p>
        </p:txBody>
      </p:sp>
      <p:sp>
        <p:nvSpPr>
          <p:cNvPr id="24" name="Text 21"/>
          <p:cNvSpPr/>
          <p:nvPr/>
        </p:nvSpPr>
        <p:spPr>
          <a:xfrm>
            <a:off x="1905238" y="6493550"/>
            <a:ext cx="4147899"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Phase 4: Public Release &amp; Scaling (Q1 2025)</a:t>
            </a:r>
            <a:endParaRPr lang="en-US" sz="1750" dirty="0"/>
          </a:p>
        </p:txBody>
      </p:sp>
      <p:sp>
        <p:nvSpPr>
          <p:cNvPr id="25" name="Text 22"/>
          <p:cNvSpPr/>
          <p:nvPr/>
        </p:nvSpPr>
        <p:spPr>
          <a:xfrm>
            <a:off x="1905238" y="6885861"/>
            <a:ext cx="6444972"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latin typeface="Open Sans" pitchFamily="34" charset="0"/>
                <a:ea typeface="Open Sans" pitchFamily="34" charset="-122"/>
                <a:cs typeface="Open Sans" pitchFamily="34" charset="-120"/>
              </a:rPr>
              <a:t>General availability launch. Begin strategic partnerships with educational institutions and expand marketing efforts to reach a broader audience.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976313"/>
            <a:ext cx="13042821" cy="235744"/>
          </a:xfrm>
          <a:prstGeom prst="rect">
            <a:avLst/>
          </a:prstGeom>
          <a:noFill/>
          <a:ln/>
        </p:spPr>
        <p:txBody>
          <a:bodyPr wrap="none" lIns="0" tIns="0" rIns="0" bIns="0" rtlCol="0" anchor="t"/>
          <a:lstStyle/>
          <a:p>
            <a:pPr marL="0" indent="0" algn="l">
              <a:lnSpc>
                <a:spcPts val="1850"/>
              </a:lnSpc>
              <a:buNone/>
            </a:pPr>
            <a:r>
              <a:rPr lang="en-US" sz="1150" b="1" dirty="0">
                <a:solidFill>
                  <a:srgbClr val="835E54"/>
                </a:solidFill>
                <a:latin typeface="Open Sans" pitchFamily="34" charset="0"/>
                <a:ea typeface="Open Sans" pitchFamily="34" charset="-122"/>
                <a:cs typeface="Open Sans" pitchFamily="34" charset="-120"/>
              </a:rPr>
              <a:t>Challenges &amp; Risk Management</a:t>
            </a:r>
            <a:endParaRPr lang="en-US" sz="1150" dirty="0"/>
          </a:p>
        </p:txBody>
      </p:sp>
      <p:sp>
        <p:nvSpPr>
          <p:cNvPr id="3" name="Text 1"/>
          <p:cNvSpPr/>
          <p:nvPr/>
        </p:nvSpPr>
        <p:spPr>
          <a:xfrm>
            <a:off x="793790" y="1359456"/>
            <a:ext cx="6409611" cy="460772"/>
          </a:xfrm>
          <a:prstGeom prst="rect">
            <a:avLst/>
          </a:prstGeom>
          <a:noFill/>
          <a:ln/>
        </p:spPr>
        <p:txBody>
          <a:bodyPr wrap="none" lIns="0" tIns="0" rIns="0" bIns="0" rtlCol="0" anchor="t"/>
          <a:lstStyle/>
          <a:p>
            <a:pPr marL="0" indent="0" algn="l">
              <a:lnSpc>
                <a:spcPts val="3600"/>
              </a:lnSpc>
              <a:buNone/>
            </a:pPr>
            <a:r>
              <a:rPr lang="en-US" sz="2900" b="1" dirty="0">
                <a:solidFill>
                  <a:srgbClr val="443728"/>
                </a:solidFill>
                <a:latin typeface="Crimson Pro Bold" pitchFamily="34" charset="0"/>
                <a:ea typeface="Crimson Pro Bold" pitchFamily="34" charset="-122"/>
                <a:cs typeface="Crimson Pro Bold" pitchFamily="34" charset="-120"/>
              </a:rPr>
              <a:t>Anticipating Obstacles, Ensuring Success</a:t>
            </a:r>
            <a:endParaRPr lang="en-US" sz="2900" dirty="0"/>
          </a:p>
        </p:txBody>
      </p:sp>
      <p:pic>
        <p:nvPicPr>
          <p:cNvPr id="4" name="Image 0" descr="preencoded.png"/>
          <p:cNvPicPr>
            <a:picLocks noChangeAspect="1"/>
          </p:cNvPicPr>
          <p:nvPr/>
        </p:nvPicPr>
        <p:blipFill>
          <a:blip r:embed="rId3"/>
          <a:stretch>
            <a:fillRect/>
          </a:stretch>
        </p:blipFill>
        <p:spPr>
          <a:xfrm>
            <a:off x="793790" y="2207181"/>
            <a:ext cx="2379583" cy="2379583"/>
          </a:xfrm>
          <a:prstGeom prst="rect">
            <a:avLst/>
          </a:prstGeom>
        </p:spPr>
      </p:pic>
      <p:sp>
        <p:nvSpPr>
          <p:cNvPr id="5" name="Shape 2"/>
          <p:cNvSpPr/>
          <p:nvPr/>
        </p:nvSpPr>
        <p:spPr>
          <a:xfrm>
            <a:off x="4822031" y="2207181"/>
            <a:ext cx="4437340" cy="2359700"/>
          </a:xfrm>
          <a:prstGeom prst="roundRect">
            <a:avLst>
              <a:gd name="adj" fmla="val 3100"/>
            </a:avLst>
          </a:prstGeom>
          <a:solidFill>
            <a:srgbClr val="FFFCFA"/>
          </a:solidFill>
          <a:ln w="15240">
            <a:solidFill>
              <a:srgbClr val="C9907C"/>
            </a:solidFill>
            <a:prstDash val="solid"/>
          </a:ln>
        </p:spPr>
      </p:sp>
      <p:sp>
        <p:nvSpPr>
          <p:cNvPr id="6" name="Shape 3"/>
          <p:cNvSpPr/>
          <p:nvPr/>
        </p:nvSpPr>
        <p:spPr>
          <a:xfrm>
            <a:off x="4806791" y="2207181"/>
            <a:ext cx="60960" cy="2359700"/>
          </a:xfrm>
          <a:prstGeom prst="roundRect">
            <a:avLst>
              <a:gd name="adj" fmla="val 101581"/>
            </a:avLst>
          </a:prstGeom>
          <a:solidFill>
            <a:srgbClr val="C9907C"/>
          </a:solidFill>
          <a:ln/>
        </p:spPr>
      </p:sp>
      <p:pic>
        <p:nvPicPr>
          <p:cNvPr id="7" name="Image 1" descr="preencoded.png"/>
          <p:cNvPicPr>
            <a:picLocks noChangeAspect="1"/>
          </p:cNvPicPr>
          <p:nvPr/>
        </p:nvPicPr>
        <p:blipFill>
          <a:blip r:embed="rId4"/>
          <a:stretch>
            <a:fillRect/>
          </a:stretch>
        </p:blipFill>
        <p:spPr>
          <a:xfrm>
            <a:off x="5030391" y="2369820"/>
            <a:ext cx="2643068" cy="776883"/>
          </a:xfrm>
          <a:prstGeom prst="rect">
            <a:avLst/>
          </a:prstGeom>
        </p:spPr>
      </p:pic>
      <p:sp>
        <p:nvSpPr>
          <p:cNvPr id="8" name="Text 4"/>
          <p:cNvSpPr/>
          <p:nvPr/>
        </p:nvSpPr>
        <p:spPr>
          <a:xfrm>
            <a:off x="5030391" y="3312557"/>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443728"/>
                </a:solidFill>
                <a:latin typeface="Crimson Pro Bold" pitchFamily="34" charset="0"/>
                <a:ea typeface="Crimson Pro Bold" pitchFamily="34" charset="-122"/>
                <a:cs typeface="Crimson Pro Bold" pitchFamily="34" charset="-120"/>
              </a:rPr>
              <a:t>AI Accuracy &amp; Bias</a:t>
            </a:r>
            <a:endParaRPr lang="en-US" sz="1450" dirty="0"/>
          </a:p>
        </p:txBody>
      </p:sp>
      <p:sp>
        <p:nvSpPr>
          <p:cNvPr id="9" name="Text 5"/>
          <p:cNvSpPr/>
          <p:nvPr/>
        </p:nvSpPr>
        <p:spPr>
          <a:xfrm>
            <a:off x="5030391" y="3690342"/>
            <a:ext cx="4066342" cy="707231"/>
          </a:xfrm>
          <a:prstGeom prst="rect">
            <a:avLst/>
          </a:prstGeom>
          <a:noFill/>
          <a:ln/>
        </p:spPr>
        <p:txBody>
          <a:bodyPr wrap="square" lIns="0" tIns="0" rIns="0" bIns="0" rtlCol="0" anchor="t"/>
          <a:lstStyle/>
          <a:p>
            <a:pPr marL="0" indent="0" algn="l">
              <a:lnSpc>
                <a:spcPts val="1850"/>
              </a:lnSpc>
              <a:buNone/>
            </a:pPr>
            <a:r>
              <a:rPr lang="en-US" sz="1150" dirty="0">
                <a:solidFill>
                  <a:srgbClr val="443728"/>
                </a:solidFill>
                <a:latin typeface="Open Sans" pitchFamily="34" charset="0"/>
                <a:ea typeface="Open Sans" pitchFamily="34" charset="-122"/>
                <a:cs typeface="Open Sans" pitchFamily="34" charset="-120"/>
              </a:rPr>
              <a:t>Ongoing model training, diverse datasets, and human oversight to ensure factual accuracy and fairness across all content transformations.</a:t>
            </a:r>
            <a:endParaRPr lang="en-US" sz="1150" dirty="0"/>
          </a:p>
        </p:txBody>
      </p:sp>
      <p:sp>
        <p:nvSpPr>
          <p:cNvPr id="10" name="Shape 6"/>
          <p:cNvSpPr/>
          <p:nvPr/>
        </p:nvSpPr>
        <p:spPr>
          <a:xfrm>
            <a:off x="9406771" y="2207181"/>
            <a:ext cx="4437340" cy="2359700"/>
          </a:xfrm>
          <a:prstGeom prst="roundRect">
            <a:avLst>
              <a:gd name="adj" fmla="val 3100"/>
            </a:avLst>
          </a:prstGeom>
          <a:solidFill>
            <a:srgbClr val="FFFCFA"/>
          </a:solidFill>
          <a:ln w="15240">
            <a:solidFill>
              <a:srgbClr val="B3BDB5"/>
            </a:solidFill>
            <a:prstDash val="solid"/>
          </a:ln>
        </p:spPr>
      </p:sp>
      <p:sp>
        <p:nvSpPr>
          <p:cNvPr id="11" name="Shape 7"/>
          <p:cNvSpPr/>
          <p:nvPr/>
        </p:nvSpPr>
        <p:spPr>
          <a:xfrm>
            <a:off x="9391531" y="2207181"/>
            <a:ext cx="60960" cy="2359700"/>
          </a:xfrm>
          <a:prstGeom prst="roundRect">
            <a:avLst>
              <a:gd name="adj" fmla="val 101581"/>
            </a:avLst>
          </a:prstGeom>
          <a:solidFill>
            <a:srgbClr val="B3BDB5"/>
          </a:solidFill>
          <a:ln/>
        </p:spPr>
      </p:sp>
      <p:pic>
        <p:nvPicPr>
          <p:cNvPr id="12" name="Image 2" descr="preencoded.png"/>
          <p:cNvPicPr>
            <a:picLocks noChangeAspect="1"/>
          </p:cNvPicPr>
          <p:nvPr/>
        </p:nvPicPr>
        <p:blipFill>
          <a:blip r:embed="rId5"/>
          <a:stretch>
            <a:fillRect/>
          </a:stretch>
        </p:blipFill>
        <p:spPr>
          <a:xfrm>
            <a:off x="9615130" y="2369820"/>
            <a:ext cx="2643068" cy="783550"/>
          </a:xfrm>
          <a:prstGeom prst="rect">
            <a:avLst/>
          </a:prstGeom>
        </p:spPr>
      </p:pic>
      <p:sp>
        <p:nvSpPr>
          <p:cNvPr id="13" name="Text 8"/>
          <p:cNvSpPr/>
          <p:nvPr/>
        </p:nvSpPr>
        <p:spPr>
          <a:xfrm>
            <a:off x="9615130" y="3319224"/>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443728"/>
                </a:solidFill>
                <a:latin typeface="Crimson Pro Bold" pitchFamily="34" charset="0"/>
                <a:ea typeface="Crimson Pro Bold" pitchFamily="34" charset="-122"/>
                <a:cs typeface="Crimson Pro Bold" pitchFamily="34" charset="-120"/>
              </a:rPr>
              <a:t>Data Privacy &amp; Security</a:t>
            </a:r>
            <a:endParaRPr lang="en-US" sz="1450" dirty="0"/>
          </a:p>
        </p:txBody>
      </p:sp>
      <p:sp>
        <p:nvSpPr>
          <p:cNvPr id="14" name="Text 9"/>
          <p:cNvSpPr/>
          <p:nvPr/>
        </p:nvSpPr>
        <p:spPr>
          <a:xfrm>
            <a:off x="9615130" y="3697010"/>
            <a:ext cx="4066342" cy="707231"/>
          </a:xfrm>
          <a:prstGeom prst="rect">
            <a:avLst/>
          </a:prstGeom>
          <a:noFill/>
          <a:ln/>
        </p:spPr>
        <p:txBody>
          <a:bodyPr wrap="square" lIns="0" tIns="0" rIns="0" bIns="0" rtlCol="0" anchor="t"/>
          <a:lstStyle/>
          <a:p>
            <a:pPr marL="0" indent="0" algn="l">
              <a:lnSpc>
                <a:spcPts val="1850"/>
              </a:lnSpc>
              <a:buNone/>
            </a:pPr>
            <a:r>
              <a:rPr lang="en-US" sz="1150" dirty="0">
                <a:solidFill>
                  <a:srgbClr val="443728"/>
                </a:solidFill>
                <a:latin typeface="Open Sans" pitchFamily="34" charset="0"/>
                <a:ea typeface="Open Sans" pitchFamily="34" charset="-122"/>
                <a:cs typeface="Open Sans" pitchFamily="34" charset="-120"/>
              </a:rPr>
              <a:t>Strict encryption protocols, compliance with educational data regulations (FERPA, GDPR), and regular security audits to protect student information.</a:t>
            </a:r>
            <a:endParaRPr lang="en-US" sz="1150" dirty="0"/>
          </a:p>
        </p:txBody>
      </p:sp>
      <p:sp>
        <p:nvSpPr>
          <p:cNvPr id="15" name="Shape 10"/>
          <p:cNvSpPr/>
          <p:nvPr/>
        </p:nvSpPr>
        <p:spPr>
          <a:xfrm>
            <a:off x="4822031" y="4714280"/>
            <a:ext cx="4437340" cy="2505789"/>
          </a:xfrm>
          <a:prstGeom prst="roundRect">
            <a:avLst>
              <a:gd name="adj" fmla="val 2919"/>
            </a:avLst>
          </a:prstGeom>
          <a:solidFill>
            <a:srgbClr val="FFFCFA"/>
          </a:solidFill>
          <a:ln w="15240">
            <a:solidFill>
              <a:srgbClr val="835E54"/>
            </a:solidFill>
            <a:prstDash val="solid"/>
          </a:ln>
        </p:spPr>
      </p:sp>
      <p:sp>
        <p:nvSpPr>
          <p:cNvPr id="16" name="Shape 11"/>
          <p:cNvSpPr/>
          <p:nvPr/>
        </p:nvSpPr>
        <p:spPr>
          <a:xfrm>
            <a:off x="4806791" y="4714280"/>
            <a:ext cx="60960" cy="2505789"/>
          </a:xfrm>
          <a:prstGeom prst="roundRect">
            <a:avLst>
              <a:gd name="adj" fmla="val 101581"/>
            </a:avLst>
          </a:prstGeom>
          <a:solidFill>
            <a:srgbClr val="835E54"/>
          </a:solidFill>
          <a:ln/>
        </p:spPr>
      </p:sp>
      <p:pic>
        <p:nvPicPr>
          <p:cNvPr id="17" name="Image 3" descr="preencoded.png"/>
          <p:cNvPicPr>
            <a:picLocks noChangeAspect="1"/>
          </p:cNvPicPr>
          <p:nvPr/>
        </p:nvPicPr>
        <p:blipFill>
          <a:blip r:embed="rId6"/>
          <a:stretch>
            <a:fillRect/>
          </a:stretch>
        </p:blipFill>
        <p:spPr>
          <a:xfrm>
            <a:off x="5030391" y="4876919"/>
            <a:ext cx="2643068" cy="929640"/>
          </a:xfrm>
          <a:prstGeom prst="rect">
            <a:avLst/>
          </a:prstGeom>
        </p:spPr>
      </p:pic>
      <p:sp>
        <p:nvSpPr>
          <p:cNvPr id="18" name="Text 12"/>
          <p:cNvSpPr/>
          <p:nvPr/>
        </p:nvSpPr>
        <p:spPr>
          <a:xfrm>
            <a:off x="5030391" y="5972413"/>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443728"/>
                </a:solidFill>
                <a:latin typeface="Crimson Pro Bold" pitchFamily="34" charset="0"/>
                <a:ea typeface="Crimson Pro Bold" pitchFamily="34" charset="-122"/>
                <a:cs typeface="Crimson Pro Bold" pitchFamily="34" charset="-120"/>
              </a:rPr>
              <a:t>Adoption &amp; Integration</a:t>
            </a:r>
            <a:endParaRPr lang="en-US" sz="1450" dirty="0"/>
          </a:p>
        </p:txBody>
      </p:sp>
      <p:sp>
        <p:nvSpPr>
          <p:cNvPr id="19" name="Text 13"/>
          <p:cNvSpPr/>
          <p:nvPr/>
        </p:nvSpPr>
        <p:spPr>
          <a:xfrm>
            <a:off x="5030391" y="6350198"/>
            <a:ext cx="4066342" cy="707231"/>
          </a:xfrm>
          <a:prstGeom prst="rect">
            <a:avLst/>
          </a:prstGeom>
          <a:noFill/>
          <a:ln/>
        </p:spPr>
        <p:txBody>
          <a:bodyPr wrap="square" lIns="0" tIns="0" rIns="0" bIns="0" rtlCol="0" anchor="t"/>
          <a:lstStyle/>
          <a:p>
            <a:pPr marL="0" indent="0" algn="l">
              <a:lnSpc>
                <a:spcPts val="1850"/>
              </a:lnSpc>
              <a:buNone/>
            </a:pPr>
            <a:r>
              <a:rPr lang="en-US" sz="1150" dirty="0">
                <a:solidFill>
                  <a:srgbClr val="443728"/>
                </a:solidFill>
                <a:latin typeface="Open Sans" pitchFamily="34" charset="0"/>
                <a:ea typeface="Open Sans" pitchFamily="34" charset="-122"/>
                <a:cs typeface="Open Sans" pitchFamily="34" charset="-120"/>
              </a:rPr>
              <a:t>User-friendly design, comprehensive training programs for educators, and seamless integration with existing LMS platforms to ensure smooth adoption.</a:t>
            </a:r>
            <a:endParaRPr lang="en-US" sz="1150" dirty="0"/>
          </a:p>
        </p:txBody>
      </p:sp>
      <p:sp>
        <p:nvSpPr>
          <p:cNvPr id="20" name="TextBox 19">
            <a:extLst>
              <a:ext uri="{FF2B5EF4-FFF2-40B4-BE49-F238E27FC236}">
                <a16:creationId xmlns:a16="http://schemas.microsoft.com/office/drawing/2014/main" id="{890F775F-F665-17A4-DC9D-58577D465ED2}"/>
              </a:ext>
            </a:extLst>
          </p:cNvPr>
          <p:cNvSpPr txBox="1"/>
          <p:nvPr/>
        </p:nvSpPr>
        <p:spPr>
          <a:xfrm>
            <a:off x="12618720" y="7648687"/>
            <a:ext cx="2011680" cy="580913"/>
          </a:xfrm>
          <a:prstGeom prst="rect">
            <a:avLst/>
          </a:prstGeom>
          <a:solidFill>
            <a:srgbClr val="FFFCFA"/>
          </a:solidFill>
        </p:spPr>
        <p:txBody>
          <a:bodyPr wrap="square" rtlCol="0">
            <a:spAutoFit/>
          </a:bodyPr>
          <a:lstStyle/>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18924"/>
            <a:ext cx="7556421" cy="272177"/>
          </a:xfrm>
          <a:prstGeom prst="rect">
            <a:avLst/>
          </a:prstGeom>
          <a:noFill/>
          <a:ln/>
        </p:spPr>
        <p:txBody>
          <a:bodyPr wrap="none" lIns="0" tIns="0" rIns="0" bIns="0" rtlCol="0" anchor="t"/>
          <a:lstStyle/>
          <a:p>
            <a:pPr marL="0" indent="0" algn="l">
              <a:lnSpc>
                <a:spcPts val="2100"/>
              </a:lnSpc>
              <a:buNone/>
            </a:pPr>
            <a:r>
              <a:rPr lang="en-US" sz="1300" b="1" dirty="0">
                <a:solidFill>
                  <a:srgbClr val="835E54"/>
                </a:solidFill>
                <a:latin typeface="Open Sans" pitchFamily="34" charset="0"/>
                <a:ea typeface="Open Sans" pitchFamily="34" charset="-122"/>
                <a:cs typeface="Open Sans" pitchFamily="34" charset="-120"/>
              </a:rPr>
              <a:t>Impact &amp; Conclusion</a:t>
            </a:r>
            <a:endParaRPr lang="en-US" sz="1300" dirty="0"/>
          </a:p>
        </p:txBody>
      </p:sp>
      <p:sp>
        <p:nvSpPr>
          <p:cNvPr id="4" name="Text 1"/>
          <p:cNvSpPr/>
          <p:nvPr/>
        </p:nvSpPr>
        <p:spPr>
          <a:xfrm>
            <a:off x="793790" y="1361123"/>
            <a:ext cx="7556421" cy="3189684"/>
          </a:xfrm>
          <a:prstGeom prst="rect">
            <a:avLst/>
          </a:prstGeom>
          <a:noFill/>
          <a:ln/>
        </p:spPr>
        <p:txBody>
          <a:bodyPr wrap="square" lIns="0" tIns="0" rIns="0" bIns="0" rtlCol="0" anchor="t"/>
          <a:lstStyle/>
          <a:p>
            <a:pPr marL="0" indent="0" algn="l">
              <a:lnSpc>
                <a:spcPts val="8350"/>
              </a:lnSpc>
              <a:buNone/>
            </a:pPr>
            <a:r>
              <a:rPr lang="en-US" sz="6650" b="1" dirty="0">
                <a:solidFill>
                  <a:srgbClr val="443728"/>
                </a:solidFill>
                <a:latin typeface="Crimson Pro Bold" pitchFamily="34" charset="0"/>
                <a:ea typeface="Crimson Pro Bold" pitchFamily="34" charset="-122"/>
                <a:cs typeface="Crimson Pro Bold" pitchFamily="34" charset="-120"/>
              </a:rPr>
              <a:t>A Brighter, More Inclusive Future for Education</a:t>
            </a:r>
            <a:endParaRPr lang="en-US" sz="6650" dirty="0"/>
          </a:p>
        </p:txBody>
      </p:sp>
      <p:sp>
        <p:nvSpPr>
          <p:cNvPr id="5" name="Text 2"/>
          <p:cNvSpPr/>
          <p:nvPr/>
        </p:nvSpPr>
        <p:spPr>
          <a:xfrm>
            <a:off x="1048941" y="4997291"/>
            <a:ext cx="7301270" cy="816531"/>
          </a:xfrm>
          <a:prstGeom prst="rect">
            <a:avLst/>
          </a:prstGeom>
          <a:noFill/>
          <a:ln/>
        </p:spPr>
        <p:txBody>
          <a:bodyPr wrap="square" lIns="0" tIns="0" rIns="0" bIns="0" rtlCol="0" anchor="t"/>
          <a:lstStyle/>
          <a:p>
            <a:pPr marL="0" indent="0" algn="l">
              <a:lnSpc>
                <a:spcPts val="2100"/>
              </a:lnSpc>
              <a:buNone/>
            </a:pPr>
            <a:r>
              <a:rPr lang="en-US" sz="1300" dirty="0">
                <a:solidFill>
                  <a:srgbClr val="443728"/>
                </a:solidFill>
                <a:latin typeface="Open Sans" pitchFamily="34" charset="0"/>
                <a:ea typeface="Open Sans" pitchFamily="34" charset="-122"/>
                <a:cs typeface="Open Sans" pitchFamily="34" charset="-120"/>
              </a:rPr>
              <a:t>Our GenAI solution isn't just a tool—it's a catalyst for educational equity. By transforming how students access and interact with learning materials, we unlock potential, foster engagement, and pave the way for a truly inclusive global classroom.</a:t>
            </a:r>
            <a:endParaRPr lang="en-US" sz="1300" dirty="0"/>
          </a:p>
        </p:txBody>
      </p:sp>
      <p:sp>
        <p:nvSpPr>
          <p:cNvPr id="6" name="Shape 3"/>
          <p:cNvSpPr/>
          <p:nvPr/>
        </p:nvSpPr>
        <p:spPr>
          <a:xfrm>
            <a:off x="793790" y="4805958"/>
            <a:ext cx="22860" cy="1199198"/>
          </a:xfrm>
          <a:prstGeom prst="rect">
            <a:avLst/>
          </a:prstGeom>
          <a:solidFill>
            <a:srgbClr val="835E54"/>
          </a:solidFill>
          <a:ln/>
        </p:spPr>
      </p:sp>
      <p:sp>
        <p:nvSpPr>
          <p:cNvPr id="7" name="Shape 4"/>
          <p:cNvSpPr/>
          <p:nvPr/>
        </p:nvSpPr>
        <p:spPr>
          <a:xfrm>
            <a:off x="793790" y="6196489"/>
            <a:ext cx="7556421" cy="1267063"/>
          </a:xfrm>
          <a:prstGeom prst="roundRect">
            <a:avLst>
              <a:gd name="adj" fmla="val 5639"/>
            </a:avLst>
          </a:prstGeom>
          <a:solidFill>
            <a:srgbClr val="E1D4D0"/>
          </a:solidFill>
          <a:ln/>
        </p:spPr>
      </p:sp>
      <p:pic>
        <p:nvPicPr>
          <p:cNvPr id="8" name="Image 1" descr="preencoded.png"/>
          <p:cNvPicPr>
            <a:picLocks noChangeAspect="1"/>
          </p:cNvPicPr>
          <p:nvPr/>
        </p:nvPicPr>
        <p:blipFill>
          <a:blip r:embed="rId4"/>
          <a:stretch>
            <a:fillRect/>
          </a:stretch>
        </p:blipFill>
        <p:spPr>
          <a:xfrm>
            <a:off x="963811" y="6458307"/>
            <a:ext cx="212646" cy="170021"/>
          </a:xfrm>
          <a:prstGeom prst="rect">
            <a:avLst/>
          </a:prstGeom>
        </p:spPr>
      </p:pic>
      <p:sp>
        <p:nvSpPr>
          <p:cNvPr id="9" name="Text 5"/>
          <p:cNvSpPr/>
          <p:nvPr/>
        </p:nvSpPr>
        <p:spPr>
          <a:xfrm>
            <a:off x="1346478" y="6409015"/>
            <a:ext cx="6833711" cy="816531"/>
          </a:xfrm>
          <a:prstGeom prst="rect">
            <a:avLst/>
          </a:prstGeom>
          <a:noFill/>
          <a:ln/>
        </p:spPr>
        <p:txBody>
          <a:bodyPr wrap="square" lIns="0" tIns="0" rIns="0" bIns="0" rtlCol="0" anchor="t"/>
          <a:lstStyle/>
          <a:p>
            <a:pPr marL="0" indent="0" algn="l">
              <a:lnSpc>
                <a:spcPts val="2100"/>
              </a:lnSpc>
              <a:buNone/>
            </a:pPr>
            <a:r>
              <a:rPr lang="en-US" sz="1300" b="1" dirty="0">
                <a:solidFill>
                  <a:srgbClr val="000000"/>
                </a:solidFill>
                <a:latin typeface="Open Sans" pitchFamily="34" charset="0"/>
                <a:ea typeface="Open Sans" pitchFamily="34" charset="-122"/>
                <a:cs typeface="Open Sans" pitchFamily="34" charset="-120"/>
              </a:rPr>
              <a:t>Join us in building a world where every learner can thrive.</a:t>
            </a:r>
            <a:r>
              <a:rPr lang="en-US" sz="1300" dirty="0">
                <a:solidFill>
                  <a:srgbClr val="000000"/>
                </a:solidFill>
                <a:latin typeface="Open Sans" pitchFamily="34" charset="0"/>
                <a:ea typeface="Open Sans" pitchFamily="34" charset="-122"/>
                <a:cs typeface="Open Sans" pitchFamily="34" charset="-120"/>
              </a:rPr>
              <a:t> Together, we can ensure that learning disabilities, language barriers, and resource limitations never again limit a student's potential to succeed.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913</Words>
  <Application>Microsoft Office PowerPoint</Application>
  <PresentationFormat>Custom</PresentationFormat>
  <Paragraphs>112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Crimson Pro Bold</vt:lpstr>
      <vt:lpstr>Crimson Pro Light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prewal fernandes</cp:lastModifiedBy>
  <cp:revision>2</cp:revision>
  <dcterms:created xsi:type="dcterms:W3CDTF">2025-09-20T05:15:44Z</dcterms:created>
  <dcterms:modified xsi:type="dcterms:W3CDTF">2025-09-20T12:18:48Z</dcterms:modified>
</cp:coreProperties>
</file>